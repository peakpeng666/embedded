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6" r:id="rId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制作源文件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10/8/2026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制作源文件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10/8/2026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ditable 3"/>
          <p:cNvSpPr/>
          <p:nvPr/>
        </p:nvSpPr>
        <p:spPr>
          <a:xfrm>
            <a:off x="609600" y="1009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4" name="Editable 4"/>
          <p:cNvSpPr txBox="1"/>
          <p:nvPr/>
        </p:nvSpPr>
        <p:spPr>
          <a:xfrm>
            <a:off x="609600" y="1733550"/>
            <a:ext cx="54292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400" b="1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时钟之迹</a:t>
            </a:r>
          </a:p>
        </p:txBody>
      </p:sp>
      <p:sp>
        <p:nvSpPr>
          <p:cNvPr id="5" name="Editable 5"/>
          <p:cNvSpPr txBox="1"/>
          <p:nvPr/>
        </p:nvSpPr>
        <p:spPr>
          <a:xfrm>
            <a:off x="638175" y="3019425"/>
            <a:ext cx="695325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STM32F407 时钟配置与软件延时</a:t>
            </a:r>
          </a:p>
        </p:txBody>
      </p:sp>
      <p:sp>
        <p:nvSpPr>
          <p:cNvPr id="6" name="Editable 6"/>
          <p:cNvSpPr txBox="1"/>
          <p:nvPr/>
        </p:nvSpPr>
        <p:spPr>
          <a:xfrm>
            <a:off x="638175" y="4076700"/>
            <a:ext cx="5715000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75"/>
              </a:lnSpc>
            </a:pPr>
            <a:r>
              <a:rPr lang="zh-CN" sz="20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STM32F407ZGT6</a:t>
            </a:r>
            <a:br/>
            <a:r>
              <a:rPr lang="zh-CN" sz="20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Keil MDK / STM32CubeMX</a:t>
            </a:r>
          </a:p>
        </p:txBody>
      </p:sp>
      <p:sp>
        <p:nvSpPr>
          <p:cNvPr id="7" name="Editable 7"/>
          <p:cNvSpPr/>
          <p:nvPr/>
        </p:nvSpPr>
        <p:spPr>
          <a:xfrm>
            <a:off x="7524750" y="1762125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8" name="Editable 8"/>
          <p:cNvSpPr txBox="1"/>
          <p:nvPr/>
        </p:nvSpPr>
        <p:spPr>
          <a:xfrm>
            <a:off x="7572375" y="1990725"/>
            <a:ext cx="2333625" cy="1381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168</a:t>
            </a:r>
          </a:p>
        </p:txBody>
      </p:sp>
      <p:sp>
        <p:nvSpPr>
          <p:cNvPr id="9" name="Editable 9"/>
          <p:cNvSpPr txBox="1"/>
          <p:nvPr/>
        </p:nvSpPr>
        <p:spPr>
          <a:xfrm>
            <a:off x="10020300" y="2552700"/>
            <a:ext cx="1238250" cy="619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MHz</a:t>
            </a:r>
          </a:p>
        </p:txBody>
      </p:sp>
      <p:sp>
        <p:nvSpPr>
          <p:cNvPr id="10" name="Editable 10"/>
          <p:cNvSpPr/>
          <p:nvPr/>
        </p:nvSpPr>
        <p:spPr>
          <a:xfrm>
            <a:off x="7524750" y="3352800"/>
            <a:ext cx="428625" cy="9525"/>
          </a:xfrm>
          <a:custGeom>
            <a:avLst/>
            <a:gdLst/>
            <a:ahLst/>
            <a:cxnLst/>
            <a:rect l="l" t="t" r="r" b="b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1" name="Editable 11"/>
          <p:cNvSpPr/>
          <p:nvPr/>
        </p:nvSpPr>
        <p:spPr>
          <a:xfrm>
            <a:off x="7953375" y="31623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2" name="Editable 12"/>
          <p:cNvSpPr/>
          <p:nvPr/>
        </p:nvSpPr>
        <p:spPr>
          <a:xfrm>
            <a:off x="7953375" y="31623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3" name="Editable 13"/>
          <p:cNvSpPr/>
          <p:nvPr/>
        </p:nvSpPr>
        <p:spPr>
          <a:xfrm>
            <a:off x="8334375" y="316230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4" name="Editable 14"/>
          <p:cNvSpPr/>
          <p:nvPr/>
        </p:nvSpPr>
        <p:spPr>
          <a:xfrm>
            <a:off x="8334375" y="3352800"/>
            <a:ext cx="3248025" cy="9525"/>
          </a:xfrm>
          <a:custGeom>
            <a:avLst/>
            <a:gdLst/>
            <a:ahLst/>
            <a:cxnLst/>
            <a:rect l="l" t="t" r="r" b="b"/>
            <a:pathLst>
              <a:path w="3248025" h="9525">
                <a:moveTo>
                  <a:pt x="0" y="0"/>
                </a:moveTo>
                <a:lnTo>
                  <a:pt x="3248025" y="0"/>
                </a:lnTo>
              </a:path>
            </a:pathLst>
          </a:custGeom>
          <a:noFill/>
          <a:ln w="28575">
            <a:solidFill>
              <a:srgbClr val="73D5D4"/>
            </a:solidFill>
          </a:ln>
        </p:spPr>
      </p:sp>
      <p:sp>
        <p:nvSpPr>
          <p:cNvPr id="15" name="Editable 15"/>
          <p:cNvSpPr txBox="1"/>
          <p:nvPr/>
        </p:nvSpPr>
        <p:spPr>
          <a:xfrm>
            <a:off x="7581900" y="3648075"/>
            <a:ext cx="904875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Editable 16"/>
          <p:cNvSpPr txBox="1"/>
          <p:nvPr/>
        </p:nvSpPr>
        <p:spPr>
          <a:xfrm>
            <a:off x="8477250" y="4038600"/>
            <a:ext cx="1047750" cy="523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00" dirty="0">
                <a:solidFill>
                  <a:srgbClr val="F5F6F2"/>
                </a:solidFill>
                <a:latin typeface="Microsoft YaHei"/>
                <a:ea typeface="Microsoft YaHei"/>
                <a:cs typeface="Microsoft YaHei"/>
              </a:rPr>
              <a:t>ms</a:t>
            </a:r>
          </a:p>
        </p:txBody>
      </p:sp>
      <p:sp>
        <p:nvSpPr>
          <p:cNvPr id="17" name="Editable 17"/>
          <p:cNvSpPr txBox="1"/>
          <p:nvPr/>
        </p:nvSpPr>
        <p:spPr>
          <a:xfrm>
            <a:off x="7591425" y="4562475"/>
            <a:ext cx="3990975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8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HAL 时基周期</a:t>
            </a:r>
          </a:p>
          <a:p>
            <a:r>
              <a:rPr lang="zh-CN" sz="18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HAL_InitTick 配置</a:t>
            </a:r>
          </a:p>
        </p:txBody>
      </p:sp>
      <p:sp>
        <p:nvSpPr>
          <p:cNvPr id="18" name="Editable 18"/>
          <p:cNvSpPr/>
          <p:nvPr/>
        </p:nvSpPr>
        <p:spPr>
          <a:xfrm>
            <a:off x="609600" y="5410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61747B"/>
            </a:solidFill>
          </a:ln>
        </p:spPr>
      </p:sp>
      <p:sp>
        <p:nvSpPr>
          <p:cNvPr id="19" name="Editable 19"/>
          <p:cNvSpPr txBox="1"/>
          <p:nvPr/>
        </p:nvSpPr>
        <p:spPr>
          <a:xfrm>
            <a:off x="6096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01  Set</a:t>
            </a:r>
          </a:p>
        </p:txBody>
      </p:sp>
      <p:sp>
        <p:nvSpPr>
          <p:cNvPr id="20" name="Editable 20"/>
          <p:cNvSpPr txBox="1"/>
          <p:nvPr/>
        </p:nvSpPr>
        <p:spPr>
          <a:xfrm>
            <a:off x="35052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02  Get</a:t>
            </a:r>
          </a:p>
        </p:txBody>
      </p:sp>
      <p:sp>
        <p:nvSpPr>
          <p:cNvPr id="21" name="Editable 21"/>
          <p:cNvSpPr txBox="1"/>
          <p:nvPr/>
        </p:nvSpPr>
        <p:spPr>
          <a:xfrm>
            <a:off x="64008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03  Config</a:t>
            </a:r>
          </a:p>
        </p:txBody>
      </p:sp>
      <p:sp>
        <p:nvSpPr>
          <p:cNvPr id="22" name="Editable 22"/>
          <p:cNvSpPr txBox="1"/>
          <p:nvPr/>
        </p:nvSpPr>
        <p:spPr>
          <a:xfrm>
            <a:off x="9296400" y="5648325"/>
            <a:ext cx="25241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200" dirty="0">
                <a:solidFill>
                  <a:srgbClr val="73D5D4"/>
                </a:solidFill>
                <a:latin typeface="Microsoft YaHei"/>
                <a:ea typeface="Microsoft YaHei"/>
                <a:cs typeface="Microsoft YaHei"/>
              </a:rPr>
              <a:t>04  Delay</a:t>
            </a:r>
          </a:p>
        </p:txBody>
      </p:sp>
      <p:sp>
        <p:nvSpPr>
          <p:cNvPr id="23" name="Editable 23"/>
          <p:cNvSpPr txBox="1"/>
          <p:nvPr/>
        </p:nvSpPr>
        <p:spPr>
          <a:xfrm>
            <a:off x="603504" y="6290310"/>
            <a:ext cx="28858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/>
          </a:p>
        </p:txBody>
      </p:sp>
      <p:sp>
        <p:nvSpPr>
          <p:cNvPr id="24" name="Editable 24"/>
          <p:cNvSpPr txBox="1"/>
          <p:nvPr/>
        </p:nvSpPr>
        <p:spPr>
          <a:xfrm>
            <a:off x="11035132" y="62903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1200" dirty="0">
                <a:solidFill>
                  <a:srgbClr val="AABDBF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Set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8" name="Line 8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9" name="Line 9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sp>
        <p:nvSpPr>
          <p:cNvPr id="11" name="Line 11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grpSp>
        <p:nvGrpSpPr>
          <p:cNvPr id="14" name="std-startup"/>
          <p:cNvGrpSpPr/>
          <p:nvPr/>
        </p:nvGrpSpPr>
        <p:grpSpPr>
          <a:xfrm>
            <a:off x="599440" y="1441450"/>
            <a:ext cx="7203231" cy="391160"/>
            <a:chOff x="599440" y="1441450"/>
            <a:chExt cx="7203231" cy="391160"/>
          </a:xfrm>
        </p:grpSpPr>
        <p:sp>
          <p:nvSpPr>
            <p:cNvPr id="12" name="TextBox 12"/>
            <p:cNvSpPr txBox="1"/>
            <p:nvPr/>
          </p:nvSpPr>
          <p:spPr>
            <a:xfrm>
              <a:off x="599440" y="144145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5372" y="1475105"/>
              <a:ext cx="6477299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Reset → SystemInit() → SetSysClock() → __main → main()</a:t>
              </a:r>
            </a:p>
          </p:txBody>
        </p:sp>
      </p:grpSp>
      <p:grpSp>
        <p:nvGrpSpPr>
          <p:cNvPr id="19" name="hal-startup"/>
          <p:cNvGrpSpPr/>
          <p:nvPr/>
        </p:nvGrpSpPr>
        <p:grpSpPr>
          <a:xfrm>
            <a:off x="599440" y="1879600"/>
            <a:ext cx="10912805" cy="660908"/>
            <a:chOff x="599440" y="1879600"/>
            <a:chExt cx="10912805" cy="660908"/>
          </a:xfrm>
        </p:grpSpPr>
        <p:sp>
          <p:nvSpPr>
            <p:cNvPr id="15" name="TextBox 15"/>
            <p:cNvSpPr txBox="1"/>
            <p:nvPr/>
          </p:nvSpPr>
          <p:spPr>
            <a:xfrm>
              <a:off x="599440" y="187960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372" y="1913255"/>
              <a:ext cx="547904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Reset → SystemInit（基础配置）→ __main → main()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5372" y="2227580"/>
              <a:ext cx="399016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HAL_Init() → SystemClock_Config()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11622" y="2227580"/>
              <a:ext cx="5900623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内部：HAL_RCC_OscConfig() → HAL_RCC_ClockConfig()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609600" y="26574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C9D5D2"/>
            </a:solidFill>
          </a:ln>
        </p:spPr>
      </p:sp>
      <p:grpSp>
        <p:nvGrpSpPr>
          <p:cNvPr id="31" name="pll-relations"/>
          <p:cNvGrpSpPr/>
          <p:nvPr/>
        </p:nvGrpSpPr>
        <p:grpSpPr>
          <a:xfrm>
            <a:off x="599440" y="2841625"/>
            <a:ext cx="3625850" cy="3489833"/>
            <a:chOff x="599440" y="2841625"/>
            <a:chExt cx="3625850" cy="3489833"/>
          </a:xfrm>
        </p:grpSpPr>
        <p:sp>
          <p:nvSpPr>
            <p:cNvPr id="21" name="TextBox 21"/>
            <p:cNvSpPr txBox="1"/>
            <p:nvPr/>
          </p:nvSpPr>
          <p:spPr>
            <a:xfrm>
              <a:off x="599440" y="2841625"/>
              <a:ext cx="2633269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fVCO = HSE ÷ M × 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0456" y="3225165"/>
              <a:ext cx="3197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HAL：8 ÷ 8 × 336 = 336 MHz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456" y="3558540"/>
              <a:ext cx="3474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STD：25 ÷ 25 × 336 = 336 MHz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9440" y="3946525"/>
              <a:ext cx="362585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SYSCLK = 336 ÷ 2 = 168 MHz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9440" y="4327525"/>
              <a:ext cx="293431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PLLQ支路（VCO ÷ Q）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0456" y="4672965"/>
              <a:ext cx="2261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HAL：Q=4 → 84 MHz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4996815"/>
              <a:ext cx="2261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STD：Q=7 → 48 MHz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0456" y="5320665"/>
              <a:ext cx="3173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PLL48CLK规格上限：75 MHz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0456" y="5701665"/>
              <a:ext cx="26533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HSE=8 MHz时（STD）：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472" y="6018530"/>
              <a:ext cx="327070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HSE_VALUE=8000000, PLL_M=8</a:t>
              </a:r>
            </a:p>
          </p:txBody>
        </p:sp>
      </p:grpSp>
      <p:grpSp>
        <p:nvGrpSpPr>
          <p:cNvPr id="33" name="set-proof"/>
          <p:cNvGrpSpPr/>
          <p:nvPr/>
        </p:nvGrpSpPr>
        <p:grpSpPr>
          <a:xfrm>
            <a:off x="4991100" y="2819400"/>
            <a:ext cx="6591300" cy="2293698"/>
            <a:chOff x="4991100" y="2819400"/>
            <a:chExt cx="6591300" cy="2293698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91100" y="2819400"/>
              <a:ext cx="6591300" cy="2293698"/>
            </a:xfrm>
            <a:prstGeom prst="rect">
              <a:avLst/>
            </a:prstGeom>
          </p:spPr>
        </p:pic>
      </p:grpSp>
      <p:grpSp>
        <p:nvGrpSpPr>
          <p:cNvPr id="38" name="bus-and-flash"/>
          <p:cNvGrpSpPr/>
          <p:nvPr/>
        </p:nvGrpSpPr>
        <p:grpSpPr>
          <a:xfrm>
            <a:off x="4981956" y="5273040"/>
            <a:ext cx="5150815" cy="1323594"/>
            <a:chOff x="4981956" y="5273040"/>
            <a:chExt cx="5150815" cy="1323594"/>
          </a:xfrm>
        </p:grpSpPr>
        <p:sp>
          <p:nvSpPr>
            <p:cNvPr id="34" name="TextBox 34"/>
            <p:cNvSpPr txBox="1"/>
            <p:nvPr/>
          </p:nvSpPr>
          <p:spPr>
            <a:xfrm>
              <a:off x="4981956" y="5273040"/>
              <a:ext cx="37354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AHB预分频：÷1，HCLK = 168 MHz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1956" y="5596890"/>
              <a:ext cx="45239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APB1：÷4，42 MHz；APB2：÷2，84 MHz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1956" y="5920740"/>
              <a:ext cx="51508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闪存等待周期：5 WS（168 MHz，2.7–3.6 V）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1956" y="6244590"/>
              <a:ext cx="2293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电压调节器：Scale 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4224"/>
              </a:lnSpc>
            </a:pPr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84"/>
              </a:lnSpc>
            </a:pPr>
            <a:r>
              <a:rPr lang="zh-CN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graphicFrame>
        <p:nvGraphicFramePr>
          <p:cNvPr id="4" name="clock-read-table"/>
          <p:cNvGraphicFramePr>
            <a:graphicFrameLocks noGrp="1"/>
          </p:cNvGraphicFramePr>
          <p:nvPr/>
        </p:nvGraphicFramePr>
        <p:xfrm>
          <a:off x="609600" y="1381125"/>
          <a:ext cx="10972800" cy="2095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 结构成员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可用读取接口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计算值 / MHz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SYSCLK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SYSCLK_Frequency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HAL_RCC_GetSysClockFreq()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</a:t>
                      </a:r>
                    </a:p>
                  </a:txBody>
                  <a:tcPr marL="95250" marR="95250" marT="22860" marB="2286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HCLK_Frequency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HAL_RCC_GetHCLKFreq()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</a:t>
                      </a:r>
                    </a:p>
                  </a:txBody>
                  <a:tcPr marL="95250" marR="95250" marT="22860" marB="2286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PCLK1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PCLK1_Frequency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HAL_RCC_GetPCLK1Freq()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95250" marR="95250" marT="22860" marB="2286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PCLK2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PCLK2_Frequency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HAL_RCC_GetPCLK2Freq()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95250" marR="95250" marT="22860" marB="2286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std-read-call"/>
          <p:cNvGrpSpPr/>
          <p:nvPr/>
        </p:nvGrpSpPr>
        <p:grpSpPr>
          <a:xfrm>
            <a:off x="601472" y="3618230"/>
            <a:ext cx="4500564" cy="312928"/>
            <a:chOff x="601472" y="3618230"/>
            <a:chExt cx="4500564" cy="312928"/>
          </a:xfrm>
        </p:grpSpPr>
        <p:sp>
          <p:nvSpPr>
            <p:cNvPr id="5" name="TextBox 5"/>
            <p:cNvSpPr txBox="1"/>
            <p:nvPr/>
          </p:nvSpPr>
          <p:spPr>
            <a:xfrm>
              <a:off x="601472" y="3618230"/>
              <a:ext cx="450056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RCC_GetClocksFreq(&amp;RCC_Clocks); // Hz</a:t>
              </a:r>
            </a:p>
          </p:txBody>
        </p:sp>
      </p:grpSp>
      <p:grpSp>
        <p:nvGrpSpPr>
          <p:cNvPr id="8" name="get-proof"/>
          <p:cNvGrpSpPr/>
          <p:nvPr/>
        </p:nvGrpSpPr>
        <p:grpSpPr>
          <a:xfrm>
            <a:off x="609600" y="3895725"/>
            <a:ext cx="6477000" cy="2617459"/>
            <a:chOff x="609600" y="3895725"/>
            <a:chExt cx="6477000" cy="261745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3895725"/>
              <a:ext cx="6477000" cy="2617459"/>
            </a:xfrm>
            <a:prstGeom prst="rect">
              <a:avLst/>
            </a:prstGeom>
          </p:spPr>
        </p:pic>
      </p:grpSp>
      <p:grpSp>
        <p:nvGrpSpPr>
          <p:cNvPr id="16" name="frequency-meanings"/>
          <p:cNvGrpSpPr/>
          <p:nvPr/>
        </p:nvGrpSpPr>
        <p:grpSpPr>
          <a:xfrm>
            <a:off x="7562215" y="3860800"/>
            <a:ext cx="3896360" cy="2613533"/>
            <a:chOff x="7562215" y="3860800"/>
            <a:chExt cx="3896360" cy="2613533"/>
          </a:xfrm>
        </p:grpSpPr>
        <p:sp>
          <p:nvSpPr>
            <p:cNvPr id="9" name="TextBox 9"/>
            <p:cNvSpPr txBox="1"/>
            <p:nvPr/>
          </p:nvSpPr>
          <p:spPr>
            <a:xfrm>
              <a:off x="7562215" y="3860800"/>
              <a:ext cx="163576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频率值的来源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3231" y="4244340"/>
              <a:ext cx="32616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寄存器+HSE/HSI宏：频率计算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3231" y="4596765"/>
              <a:ext cx="3802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SystemCoreClock：HCLK软件记录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3231" y="4949190"/>
              <a:ext cx="27239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MCO时钟输出：仪器测量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4247" y="5408930"/>
              <a:ext cx="361696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读取SWS → 计算SYSCLK → 总线分频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3231" y="575881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前提：时钟宏、软件记录与配置一致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4247" y="6161405"/>
              <a:ext cx="2913786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HAL_GetTick()：返回ms计数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Config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grpSp>
        <p:nvGrpSpPr>
          <p:cNvPr id="8" name="tick-equation"/>
          <p:cNvGrpSpPr/>
          <p:nvPr/>
        </p:nvGrpSpPr>
        <p:grpSpPr>
          <a:xfrm>
            <a:off x="599440" y="1431925"/>
            <a:ext cx="6968287" cy="773684"/>
            <a:chOff x="599440" y="1431925"/>
            <a:chExt cx="6968287" cy="773684"/>
          </a:xfrm>
        </p:grpSpPr>
        <p:sp>
          <p:nvSpPr>
            <p:cNvPr id="6" name="TextBox 6"/>
            <p:cNvSpPr txBox="1"/>
            <p:nvPr/>
          </p:nvSpPr>
          <p:spPr>
            <a:xfrm>
              <a:off x="599440" y="1431925"/>
              <a:ext cx="6111240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Consolas"/>
                  <a:ea typeface="Microsoft YaHei"/>
                  <a:cs typeface="Consolas"/>
                </a:rPr>
                <a:t>T = (LOAD + 1) / fSysTick = ticks / HCLK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1853565"/>
              <a:ext cx="69672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24位递减计数器；CLKSOURCE：1=HCLK（本例），0=HCLK/8。</a:t>
              </a:r>
            </a:p>
          </p:txBody>
        </p:sp>
      </p:grpSp>
      <p:graphicFrame>
        <p:nvGraphicFramePr>
          <p:cNvPr id="9" name="tick-comparison"/>
          <p:cNvGraphicFramePr>
            <a:graphicFrameLocks noGrp="1"/>
          </p:cNvGraphicFramePr>
          <p:nvPr/>
        </p:nvGraphicFramePr>
        <p:xfrm>
          <a:off x="609600" y="2266950"/>
          <a:ext cx="10972800" cy="13811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 = 168 MHz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D66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 · 10 ms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· 默认1 ms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时钟周期数 ticks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1 680 000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168 000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重装载值 LOAD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1 679 999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rgbClr val="14313D"/>
                          </a:solidFill>
                          <a:latin typeface="Consolas"/>
                          <a:ea typeface="Microsoft YaHei"/>
                          <a:cs typeface="Consolas"/>
                        </a:rPr>
                        <a:t>167 999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" name="tick-calls"/>
          <p:cNvGrpSpPr/>
          <p:nvPr/>
        </p:nvGrpSpPr>
        <p:grpSpPr>
          <a:xfrm>
            <a:off x="599440" y="3879850"/>
            <a:ext cx="4018178" cy="2165858"/>
            <a:chOff x="599440" y="3879850"/>
            <a:chExt cx="4018178" cy="2165858"/>
          </a:xfrm>
        </p:grpSpPr>
        <p:sp>
          <p:nvSpPr>
            <p:cNvPr id="10" name="TextBox 10"/>
            <p:cNvSpPr txBox="1"/>
            <p:nvPr/>
          </p:nvSpPr>
          <p:spPr>
            <a:xfrm>
              <a:off x="599440" y="3879850"/>
              <a:ext cx="513182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472" y="4256405"/>
              <a:ext cx="181645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SysTick_Config(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472" y="4532630"/>
              <a:ext cx="4016146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RCC_Clocks.HCLK_Frequency / 100);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440" y="4822825"/>
              <a:ext cx="193968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HAL_InitTick()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472" y="5199380"/>
              <a:ext cx="235469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HAL_SYSTICK_Config(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472" y="5466080"/>
              <a:ext cx="205297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SystemCoreClock /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472" y="5732780"/>
              <a:ext cx="2662733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(1000U / uwTickFreq));</a:t>
              </a:r>
            </a:p>
          </p:txBody>
        </p:sp>
      </p:grpSp>
      <p:grpSp>
        <p:nvGrpSpPr>
          <p:cNvPr id="19" name="config-proof"/>
          <p:cNvGrpSpPr/>
          <p:nvPr/>
        </p:nvGrpSpPr>
        <p:grpSpPr>
          <a:xfrm>
            <a:off x="4991100" y="3838575"/>
            <a:ext cx="6591300" cy="2353220"/>
            <a:chOff x="4991100" y="3838575"/>
            <a:chExt cx="6591300" cy="235322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91100" y="3838575"/>
              <a:ext cx="6591300" cy="2353220"/>
            </a:xfrm>
            <a:prstGeom prst="rect">
              <a:avLst/>
            </a:prstGeom>
          </p:spPr>
        </p:pic>
      </p:grpSp>
      <p:grpSp>
        <p:nvGrpSpPr>
          <p:cNvPr id="22" name="tick-reconfigure"/>
          <p:cNvGrpSpPr/>
          <p:nvPr/>
        </p:nvGrpSpPr>
        <p:grpSpPr>
          <a:xfrm>
            <a:off x="600456" y="5958840"/>
            <a:ext cx="7140753" cy="629793"/>
            <a:chOff x="600456" y="5958840"/>
            <a:chExt cx="7140753" cy="629793"/>
          </a:xfrm>
        </p:grpSpPr>
        <p:sp>
          <p:nvSpPr>
            <p:cNvPr id="20" name="TextBox 20"/>
            <p:cNvSpPr txBox="1"/>
            <p:nvPr/>
          </p:nvSpPr>
          <p:spPr>
            <a:xfrm>
              <a:off x="600456" y="5958840"/>
              <a:ext cx="40465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切换时钟后重设时基；uwTickFreq=1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472" y="6275705"/>
              <a:ext cx="713973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校验24位范围 → LOAD=ticks−1 → VAL=0 → 启用计数/中断 → 周期重装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en-US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Delay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grpSp>
        <p:nvGrpSpPr>
          <p:cNvPr id="12" name="std-delay-code"/>
          <p:cNvGrpSpPr/>
          <p:nvPr/>
        </p:nvGrpSpPr>
        <p:grpSpPr>
          <a:xfrm>
            <a:off x="599440" y="1441450"/>
            <a:ext cx="5267960" cy="1527683"/>
            <a:chOff x="599440" y="1441450"/>
            <a:chExt cx="5267960" cy="1527683"/>
          </a:xfrm>
        </p:grpSpPr>
        <p:sp>
          <p:nvSpPr>
            <p:cNvPr id="6" name="TextBox 6"/>
            <p:cNvSpPr txBox="1"/>
            <p:nvPr/>
          </p:nvSpPr>
          <p:spPr>
            <a:xfrm>
              <a:off x="599440" y="1441450"/>
              <a:ext cx="337391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 · Delay(10) ≈100 ms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57375"/>
              <a:ext cx="5257800" cy="1104900"/>
            </a:xfrm>
            <a:prstGeom prst="roundRect">
              <a:avLst>
                <a:gd name="adj" fmla="val 3448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872" y="1941830"/>
              <a:ext cx="4198659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static __IO uint32_t uwTimingDelay;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3872" y="2179955"/>
              <a:ext cx="216588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uwTimingDelay = n;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3872" y="2418080"/>
              <a:ext cx="323494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while (uwTimingDelay != 0);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872" y="2656205"/>
              <a:ext cx="2172777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// __IO = volatile</a:t>
              </a:r>
            </a:p>
          </p:txBody>
        </p:sp>
      </p:grpSp>
      <p:grpSp>
        <p:nvGrpSpPr>
          <p:cNvPr id="19" name="hal-delay-code"/>
          <p:cNvGrpSpPr/>
          <p:nvPr/>
        </p:nvGrpSpPr>
        <p:grpSpPr>
          <a:xfrm>
            <a:off x="6314440" y="1441450"/>
            <a:ext cx="5267960" cy="1527683"/>
            <a:chOff x="6314440" y="1441450"/>
            <a:chExt cx="5267960" cy="1527683"/>
          </a:xfrm>
        </p:grpSpPr>
        <p:sp>
          <p:nvSpPr>
            <p:cNvPr id="13" name="TextBox 13"/>
            <p:cNvSpPr txBox="1"/>
            <p:nvPr/>
          </p:nvSpPr>
          <p:spPr>
            <a:xfrm>
              <a:off x="6314440" y="1441450"/>
              <a:ext cx="3831396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 · HAL_Delay(1000) ≈1 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324600" y="1857375"/>
              <a:ext cx="5257800" cy="1104900"/>
            </a:xfrm>
            <a:prstGeom prst="roundRect">
              <a:avLst>
                <a:gd name="adj" fmla="val 3448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68872" y="1941830"/>
              <a:ext cx="386080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start=HAL_GetTick(); wait=Delay;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8872" y="2179955"/>
              <a:ext cx="2840760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if (wait&lt;HAL_MAX_DELAY)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872" y="2418080"/>
              <a:ext cx="2285303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wait += uwTickFreq;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872" y="2656205"/>
              <a:ext cx="397172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while (HAL_GetTick()-start&lt;wait);</a:t>
              </a:r>
            </a:p>
          </p:txBody>
        </p:sp>
      </p:grpSp>
      <p:grpSp>
        <p:nvGrpSpPr>
          <p:cNvPr id="21" name="std-interrupt"/>
          <p:cNvGrpSpPr/>
          <p:nvPr/>
        </p:nvGrpSpPr>
        <p:grpSpPr>
          <a:xfrm>
            <a:off x="601472" y="3103880"/>
            <a:ext cx="4528302" cy="312928"/>
            <a:chOff x="601472" y="3103880"/>
            <a:chExt cx="4528302" cy="312928"/>
          </a:xfrm>
        </p:grpSpPr>
        <p:sp>
          <p:nvSpPr>
            <p:cNvPr id="20" name="TextBox 20"/>
            <p:cNvSpPr txBox="1"/>
            <p:nvPr/>
          </p:nvSpPr>
          <p:spPr>
            <a:xfrm>
              <a:off x="601472" y="3103880"/>
              <a:ext cx="4528302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10 ms中断：TimingDelay_Decrement非零减1</a:t>
              </a:r>
            </a:p>
          </p:txBody>
        </p:sp>
      </p:grpSp>
      <p:grpSp>
        <p:nvGrpSpPr>
          <p:cNvPr id="23" name="hal-interrupt"/>
          <p:cNvGrpSpPr/>
          <p:nvPr/>
        </p:nvGrpSpPr>
        <p:grpSpPr>
          <a:xfrm>
            <a:off x="6315456" y="3082290"/>
            <a:ext cx="3928720" cy="352044"/>
            <a:chOff x="6315456" y="3082290"/>
            <a:chExt cx="3928720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6315456" y="3082290"/>
              <a:ext cx="3928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1 ms中断：HAL_IncTick累加uwTick</a:t>
              </a:r>
            </a:p>
          </p:txBody>
        </p:sp>
      </p:grpSp>
      <p:grpSp>
        <p:nvGrpSpPr>
          <p:cNvPr id="25" name="delay-std-proof"/>
          <p:cNvGrpSpPr/>
          <p:nvPr/>
        </p:nvGrpSpPr>
        <p:grpSpPr>
          <a:xfrm>
            <a:off x="609600" y="3409950"/>
            <a:ext cx="5257800" cy="1732547"/>
            <a:chOff x="609600" y="3409950"/>
            <a:chExt cx="5257800" cy="1732547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3409950"/>
              <a:ext cx="5257800" cy="1732547"/>
            </a:xfrm>
            <a:prstGeom prst="rect">
              <a:avLst/>
            </a:prstGeom>
          </p:spPr>
        </p:pic>
      </p:grpSp>
      <p:grpSp>
        <p:nvGrpSpPr>
          <p:cNvPr id="27" name="delay-hal-proof"/>
          <p:cNvGrpSpPr/>
          <p:nvPr/>
        </p:nvGrpSpPr>
        <p:grpSpPr>
          <a:xfrm>
            <a:off x="6324600" y="3409950"/>
            <a:ext cx="5257800" cy="1187790"/>
            <a:chOff x="6324600" y="3409950"/>
            <a:chExt cx="5257800" cy="118779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4600" y="3409950"/>
              <a:ext cx="5257800" cy="1187790"/>
            </a:xfrm>
            <a:prstGeom prst="rect">
              <a:avLst/>
            </a:prstGeom>
          </p:spPr>
        </p:pic>
      </p:grpSp>
      <p:grpSp>
        <p:nvGrpSpPr>
          <p:cNvPr id="42" name="std-wait-flow"/>
          <p:cNvGrpSpPr/>
          <p:nvPr/>
        </p:nvGrpSpPr>
        <p:grpSpPr>
          <a:xfrm>
            <a:off x="609600" y="5200650"/>
            <a:ext cx="5257800" cy="762000"/>
            <a:chOff x="609600" y="5200650"/>
            <a:chExt cx="5257800" cy="762000"/>
          </a:xfrm>
        </p:grpSpPr>
        <p:sp>
          <p:nvSpPr>
            <p:cNvPr id="28" name="Rectangle 28"/>
            <p:cNvSpPr/>
            <p:nvPr/>
          </p:nvSpPr>
          <p:spPr>
            <a:xfrm>
              <a:off x="609600" y="5381625"/>
              <a:ext cx="1447800" cy="495300"/>
            </a:xfrm>
            <a:prstGeom prst="roundRect">
              <a:avLst>
                <a:gd name="adj" fmla="val 9615"/>
              </a:avLst>
            </a:prstGeom>
            <a:solidFill>
              <a:srgbClr val="E8EEE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8566" y="5501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设置计数值</a:t>
              </a:r>
            </a:p>
          </p:txBody>
        </p:sp>
        <p:sp>
          <p:nvSpPr>
            <p:cNvPr id="30" name="Polygon 30"/>
            <p:cNvSpPr/>
            <p:nvPr/>
          </p:nvSpPr>
          <p:spPr>
            <a:xfrm>
              <a:off x="2714625" y="5295900"/>
              <a:ext cx="1733550" cy="666750"/>
            </a:xfrm>
            <a:custGeom>
              <a:avLst/>
              <a:gdLst/>
              <a:ahLst/>
              <a:cxnLst/>
              <a:rect l="l" t="t" r="r" b="b"/>
              <a:pathLst>
                <a:path w="1733550" h="666750">
                  <a:moveTo>
                    <a:pt x="866775" y="0"/>
                  </a:moveTo>
                  <a:lnTo>
                    <a:pt x="1733550" y="333375"/>
                  </a:lnTo>
                  <a:lnTo>
                    <a:pt x="86677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E8EEEB"/>
            </a:solidFill>
            <a:ln w="19050">
              <a:solidFill>
                <a:srgbClr val="167D8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75508" y="5511165"/>
              <a:ext cx="1011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计数≠0？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76800" y="5381625"/>
              <a:ext cx="990600" cy="495300"/>
            </a:xfrm>
            <a:prstGeom prst="roundRect">
              <a:avLst>
                <a:gd name="adj" fmla="val 9615"/>
              </a:avLst>
            </a:prstGeom>
            <a:solidFill>
              <a:srgbClr val="167D8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20640" y="550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Microsoft YaHei"/>
                  <a:ea typeface="Microsoft YaHei"/>
                  <a:cs typeface="Microsoft YaHei"/>
                </a:rPr>
                <a:t>返回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057400" y="5629275"/>
              <a:ext cx="6572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35" name="Line 35"/>
            <p:cNvSpPr/>
            <p:nvPr/>
          </p:nvSpPr>
          <p:spPr>
            <a:xfrm>
              <a:off x="4448175" y="5629275"/>
              <a:ext cx="4286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03801" y="5351780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否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581400" y="52006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2495550" y="520065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10858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2495550" y="52006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2495550" y="5629275"/>
              <a:ext cx="21907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89226" y="5266055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</a:p>
          </p:txBody>
        </p:sp>
      </p:grpSp>
      <p:grpSp>
        <p:nvGrpSpPr>
          <p:cNvPr id="57" name="hal-wait-flow"/>
          <p:cNvGrpSpPr/>
          <p:nvPr/>
        </p:nvGrpSpPr>
        <p:grpSpPr>
          <a:xfrm>
            <a:off x="6324600" y="5200650"/>
            <a:ext cx="5257800" cy="762000"/>
            <a:chOff x="6324600" y="5200650"/>
            <a:chExt cx="5257800" cy="762000"/>
          </a:xfrm>
        </p:grpSpPr>
        <p:sp>
          <p:nvSpPr>
            <p:cNvPr id="43" name="Rectangle 43"/>
            <p:cNvSpPr/>
            <p:nvPr/>
          </p:nvSpPr>
          <p:spPr>
            <a:xfrm>
              <a:off x="6324600" y="5381625"/>
              <a:ext cx="1447800" cy="495300"/>
            </a:xfrm>
            <a:prstGeom prst="roundRect">
              <a:avLst>
                <a:gd name="adj" fmla="val 9615"/>
              </a:avLst>
            </a:prstGeom>
            <a:solidFill>
              <a:srgbClr val="E8EEE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33566" y="5501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记录起始值</a:t>
              </a:r>
            </a:p>
          </p:txBody>
        </p:sp>
        <p:sp>
          <p:nvSpPr>
            <p:cNvPr id="45" name="Polygon 45"/>
            <p:cNvSpPr/>
            <p:nvPr/>
          </p:nvSpPr>
          <p:spPr>
            <a:xfrm>
              <a:off x="8429625" y="5295900"/>
              <a:ext cx="1733550" cy="666750"/>
            </a:xfrm>
            <a:custGeom>
              <a:avLst/>
              <a:gdLst/>
              <a:ahLst/>
              <a:cxnLst/>
              <a:rect l="l" t="t" r="r" b="b"/>
              <a:pathLst>
                <a:path w="1733550" h="666750">
                  <a:moveTo>
                    <a:pt x="866775" y="0"/>
                  </a:moveTo>
                  <a:lnTo>
                    <a:pt x="1733550" y="333375"/>
                  </a:lnTo>
                  <a:lnTo>
                    <a:pt x="86677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E8EEEB"/>
            </a:solidFill>
            <a:ln w="19050">
              <a:solidFill>
                <a:srgbClr val="167D8D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17483" y="5532755"/>
              <a:ext cx="1157834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差值&lt;wait?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91800" y="5381625"/>
              <a:ext cx="990600" cy="495300"/>
            </a:xfrm>
            <a:prstGeom prst="roundRect">
              <a:avLst>
                <a:gd name="adj" fmla="val 9615"/>
              </a:avLst>
            </a:prstGeom>
            <a:solidFill>
              <a:srgbClr val="167D8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35640" y="5501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Microsoft YaHei"/>
                  <a:ea typeface="Microsoft YaHei"/>
                  <a:cs typeface="Microsoft YaHei"/>
                </a:rPr>
                <a:t>返回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772400" y="5629275"/>
              <a:ext cx="6572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10163175" y="5629275"/>
              <a:ext cx="42862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218801" y="5351780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否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296400" y="52006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8210550" y="5200650"/>
              <a:ext cx="1085850" cy="9525"/>
            </a:xfrm>
            <a:custGeom>
              <a:avLst/>
              <a:gdLst/>
              <a:ahLst/>
              <a:cxnLst/>
              <a:rect l="l" t="t" r="r" b="b"/>
              <a:pathLst>
                <a:path w="1085850" h="9525">
                  <a:moveTo>
                    <a:pt x="10858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210550" y="520065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rgbClr val="167D8D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210550" y="5629275"/>
              <a:ext cx="219075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04226" y="5266055"/>
              <a:ext cx="231648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是</a:t>
              </a:r>
            </a:p>
          </p:txBody>
        </p:sp>
      </p:grpSp>
      <p:grpSp>
        <p:nvGrpSpPr>
          <p:cNvPr id="59" name="blocking-meaning"/>
          <p:cNvGrpSpPr/>
          <p:nvPr/>
        </p:nvGrpSpPr>
        <p:grpSpPr>
          <a:xfrm>
            <a:off x="600456" y="6196965"/>
            <a:ext cx="6591550" cy="352044"/>
            <a:chOff x="600456" y="6196965"/>
            <a:chExt cx="6591550" cy="352044"/>
          </a:xfrm>
        </p:grpSpPr>
        <p:sp>
          <p:nvSpPr>
            <p:cNvPr id="58" name="TextBox 58"/>
            <p:cNvSpPr txBox="1"/>
            <p:nvPr/>
          </p:nvSpPr>
          <p:spPr>
            <a:xfrm>
              <a:off x="600456" y="6196965"/>
              <a:ext cx="6591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17A82"/>
                  </a:solidFill>
                  <a:latin typeface="Microsoft YaHei"/>
                  <a:ea typeface="Microsoft YaHei"/>
                  <a:cs typeface="Microsoft YaHei"/>
                </a:rPr>
                <a:t>主循环阻塞 · SysTick中断计数 · 时基分辨率 · 中断响应延迟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2"/>
          <p:cNvSpPr/>
          <p:nvPr/>
        </p:nvSpPr>
        <p:spPr>
          <a:xfrm>
            <a:off x="609600" y="619125"/>
            <a:ext cx="10972800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14313D"/>
                </a:solidFill>
                <a:latin typeface="Microsoft YaHei"/>
                <a:ea typeface="Microsoft YaHei"/>
                <a:cs typeface="Microsoft YaHei"/>
              </a:rPr>
              <a:t>各时钟原理与应用</a:t>
            </a:r>
          </a:p>
        </p:txBody>
      </p:sp>
      <p:sp>
        <p:nvSpPr>
          <p:cNvPr id="3" name="Editable 3"/>
          <p:cNvSpPr/>
          <p:nvPr/>
        </p:nvSpPr>
        <p:spPr>
          <a:xfrm>
            <a:off x="11001375" y="6553200"/>
            <a:ext cx="666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617A82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graphicFrame>
        <p:nvGraphicFramePr>
          <p:cNvPr id="6" name="clock-principles"/>
          <p:cNvGraphicFramePr>
            <a:graphicFrameLocks noGrp="1"/>
          </p:cNvGraphicFramePr>
          <p:nvPr/>
        </p:nvGraphicFramePr>
        <p:xfrm>
          <a:off x="609600" y="1381125"/>
          <a:ext cx="6334125" cy="46672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时钟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167D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原理与应用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E8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HSI 16 MHz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内部RC振荡器；系统启动、PLL输入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HSE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外部晶振/时钟；PLL基准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PLL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预分频、倍频、输出分频；时钟合成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SYSCLK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系统时钟；选择HSI/HSE/PLL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HCLK / PCLK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总线预分频；内核、存储器与外设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LSE 32.768 kHz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外部低速晶振；RTC日历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LSI ≈32 kHz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内部低速RC；独立看门狗、RTC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SysTick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24位递减计数器；系统时基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 / PWM</a:t>
                      </a:r>
                    </a:p>
                  </a:txBody>
                  <a:tcPr marL="95250" marR="95250" marT="38100" marB="3810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APB÷1时TIMCLK=PCLK；否则×2</a:t>
                      </a:r>
                    </a:p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硬件定时/PWM；本例84/168 MHz</a:t>
                      </a:r>
                    </a:p>
                  </a:txBody>
                  <a:tcPr marL="95250" marR="95250" marT="0" marB="0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外设门控</a:t>
                      </a:r>
                    </a:p>
                  </a:txBody>
                  <a:tcPr marL="95250" marR="95250" marT="25717" marB="25717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0">
                          <a:solidFill>
                            <a:srgbClr val="1431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RCC时钟使能；外设访问、功耗控制</a:t>
                      </a:r>
                    </a:p>
                  </a:txBody>
                  <a:tcPr marL="95250" marR="95250" marT="25717" marB="25717" anchor="ctr">
                    <a:lnL>
                      <a:noFill/>
                    </a:lnL>
                    <a:lnR>
                      <a:noFill/>
                    </a:lnR>
                    <a:lnT w="6668" cap="flat" cmpd="sng" algn="ctr">
                      <a:solidFill>
                        <a:srgbClr val="C9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9D5D2"/>
                      </a:solidFill>
                      <a:prstDash val="solid"/>
                    </a:lnB>
                    <a:solidFill>
                      <a:srgbClr val="F5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9" name="gpio-gating-example"/>
          <p:cNvGrpSpPr/>
          <p:nvPr/>
        </p:nvGrpSpPr>
        <p:grpSpPr>
          <a:xfrm>
            <a:off x="609600" y="6191250"/>
            <a:ext cx="6334125" cy="378333"/>
            <a:chOff x="609600" y="6191250"/>
            <a:chExt cx="6334125" cy="378333"/>
          </a:xfrm>
        </p:grpSpPr>
        <p:sp>
          <p:nvSpPr>
            <p:cNvPr id="7" name="Rectangle 7"/>
            <p:cNvSpPr/>
            <p:nvPr/>
          </p:nvSpPr>
          <p:spPr>
            <a:xfrm>
              <a:off x="609600" y="6191250"/>
              <a:ext cx="6334125" cy="323850"/>
            </a:xfrm>
            <a:prstGeom prst="roundRect">
              <a:avLst>
                <a:gd name="adj" fmla="val 8824"/>
              </a:avLst>
            </a:prstGeom>
            <a:solidFill>
              <a:srgbClr val="1431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872" y="6256655"/>
              <a:ext cx="3646221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5F6F2"/>
                  </a:solidFill>
                  <a:latin typeface="Consolas"/>
                  <a:ea typeface="Microsoft YaHei"/>
                  <a:cs typeface="Consolas"/>
                </a:rPr>
                <a:t>__HAL_RCC_GPIOE_CLK_ENABLE();</a:t>
              </a:r>
            </a:p>
          </p:txBody>
        </p:sp>
      </p:grpSp>
      <p:grpSp>
        <p:nvGrpSpPr>
          <p:cNvPr id="17" name="led-timing"/>
          <p:cNvGrpSpPr/>
          <p:nvPr/>
        </p:nvGrpSpPr>
        <p:grpSpPr>
          <a:xfrm>
            <a:off x="7371715" y="1450975"/>
            <a:ext cx="3363265" cy="2716784"/>
            <a:chOff x="7371715" y="1450975"/>
            <a:chExt cx="3363265" cy="2716784"/>
          </a:xfrm>
        </p:grpSpPr>
        <p:sp>
          <p:nvSpPr>
            <p:cNvPr id="10" name="TextBox 10"/>
            <p:cNvSpPr txBox="1"/>
            <p:nvPr/>
          </p:nvSpPr>
          <p:spPr>
            <a:xfrm>
              <a:off x="7371715" y="1450975"/>
              <a:ext cx="2200593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STD · Delay(10)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72731" y="1863090"/>
              <a:ext cx="2259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循环间隔：约100 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72731" y="2205990"/>
              <a:ext cx="33622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通常每5轮翻转，间隔约500 ms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72731" y="2548890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完整亮灭周期：约1 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71715" y="3060700"/>
              <a:ext cx="3183479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167D8D"/>
                  </a:solidFill>
                  <a:latin typeface="Microsoft YaHei"/>
                  <a:ea typeface="Microsoft YaHei"/>
                  <a:cs typeface="Microsoft YaHei"/>
                </a:rPr>
                <a:t>HAL · HAL_Delay(1000)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72731" y="3472815"/>
              <a:ext cx="2538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循环、翻转间隔：约1 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72731" y="3815715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完整亮灭周期：约2 s</a:t>
              </a:r>
            </a:p>
          </p:txBody>
        </p:sp>
      </p:grpSp>
      <p:grpSp>
        <p:nvGrpSpPr>
          <p:cNvPr id="27" name="index-rollover"/>
          <p:cNvGrpSpPr/>
          <p:nvPr/>
        </p:nvGrpSpPr>
        <p:grpSpPr>
          <a:xfrm>
            <a:off x="7371715" y="4603750"/>
            <a:ext cx="4210685" cy="2011934"/>
            <a:chOff x="7371715" y="4603750"/>
            <a:chExt cx="4210685" cy="2011934"/>
          </a:xfrm>
        </p:grpSpPr>
        <p:sp>
          <p:nvSpPr>
            <p:cNvPr id="18" name="TextBox 18"/>
            <p:cNvSpPr txBox="1"/>
            <p:nvPr/>
          </p:nvSpPr>
          <p:spPr>
            <a:xfrm>
              <a:off x="7371715" y="4603750"/>
              <a:ext cx="1359327" cy="391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Index 回卷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73747" y="5018405"/>
              <a:ext cx="3164291" cy="31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14313D"/>
                  </a:solidFill>
                  <a:latin typeface="Consolas"/>
                  <a:ea typeface="Microsoft YaHei"/>
                  <a:cs typeface="Consolas"/>
                </a:rPr>
                <a:t>uint16_t; Index%5==0 时翻转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81875" y="5400675"/>
              <a:ext cx="1409700" cy="476250"/>
            </a:xfrm>
            <a:prstGeom prst="roundRect">
              <a:avLst>
                <a:gd name="adj" fmla="val 12000"/>
              </a:avLst>
            </a:prstGeom>
            <a:solidFill>
              <a:srgbClr val="F3E2D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68324" y="5506085"/>
              <a:ext cx="836803" cy="43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00" dirty="0">
                  <a:solidFill>
                    <a:srgbClr val="D66A35"/>
                  </a:solidFill>
                  <a:latin typeface="Consolas"/>
                  <a:ea typeface="Microsoft YaHei"/>
                  <a:cs typeface="Consolas"/>
                </a:rPr>
                <a:t>65535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172700" y="5400675"/>
              <a:ext cx="1409700" cy="476250"/>
            </a:xfrm>
            <a:prstGeom prst="roundRect">
              <a:avLst>
                <a:gd name="adj" fmla="val 12000"/>
              </a:avLst>
            </a:prstGeom>
            <a:solidFill>
              <a:srgbClr val="F3E2D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784929" y="5506085"/>
              <a:ext cx="185242" cy="43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00" dirty="0">
                  <a:solidFill>
                    <a:srgbClr val="D66A35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953500" y="5638800"/>
              <a:ext cx="1047750" cy="1"/>
            </a:xfrm>
            <a:prstGeom prst="line">
              <a:avLst/>
            </a:prstGeom>
            <a:noFill/>
            <a:ln w="19050">
              <a:solidFill>
                <a:srgbClr val="167D8D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72731" y="5996940"/>
              <a:ext cx="1944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4313D"/>
                  </a:solidFill>
                  <a:latin typeface="Microsoft YaHei"/>
                  <a:ea typeface="Microsoft YaHei"/>
                  <a:cs typeface="Microsoft YaHei"/>
                </a:rPr>
                <a:t>两者均满足%5==0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72731" y="6263640"/>
              <a:ext cx="3228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66A35"/>
                  </a:solidFill>
                  <a:latin typeface="Microsoft YaHei"/>
                  <a:ea typeface="Microsoft YaHei"/>
                  <a:cs typeface="Microsoft YaHei"/>
                </a:rPr>
                <a:t>连续两轮翻转，间隔约100 ms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制作源文件">
  <a:themeElements>
    <a:clrScheme name="制作源文件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制作源文件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制作源文件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861</Words>
  <Application>Microsoft Office PowerPoint</Application>
  <PresentationFormat>宽屏</PresentationFormat>
  <Paragraphs>152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Microsoft YaHei</vt:lpstr>
      <vt:lpstr>Arial</vt:lpstr>
      <vt:lpstr>Consolas</vt:lpstr>
      <vt:lpstr>制作源文件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彭俊杰</cp:lastModifiedBy>
  <cp:revision>2</cp:revision>
  <dcterms:created xsi:type="dcterms:W3CDTF">2026-10-07T10:33:09Z</dcterms:created>
  <dcterms:modified xsi:type="dcterms:W3CDTF">2026-10-07T16:21:26Z</dcterms:modified>
  <cp:category/>
  <cp:contentStatus/>
  <dc:language>zh-CN</dc:language>
</cp:coreProperties>
</file>