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6e94501f4449d" /><Relationship Type="http://schemas.openxmlformats.org/officeDocument/2006/relationships/extended-properties" Target="/docProps/app.xml" Id="Ra1a45d67085f4fd5" /><Relationship Type="http://schemas.openxmlformats.org/officeDocument/2006/relationships/officeDocument" Target="/ppt/presentation.xml" Id="R855c65e57600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2a89ed5164f34"/>
  </p:sldMasterIdLst>
  <p:notesMasterIdLst>
    <p:notesMasterId xmlns:r="http://schemas.openxmlformats.org/officeDocument/2006/relationships" r:id="R7682b6c2bf9c4719"/>
  </p:notesMasterIdLst>
  <p:sldIdLst>
    <p:sldId xmlns:r="http://schemas.openxmlformats.org/officeDocument/2006/relationships" id="256" r:id="R3bdfac9798d74a55"/>
    <p:sldId xmlns:r="http://schemas.openxmlformats.org/officeDocument/2006/relationships" id="257" r:id="R5699539cf4604c42"/>
    <p:sldId xmlns:r="http://schemas.openxmlformats.org/officeDocument/2006/relationships" id="258" r:id="R0d2ac6987a6e4494"/>
    <p:sldId xmlns:r="http://schemas.openxmlformats.org/officeDocument/2006/relationships" id="259" r:id="R78841970fae8461c"/>
    <p:sldId xmlns:r="http://schemas.openxmlformats.org/officeDocument/2006/relationships" id="260" r:id="R2db9bb6cb8e7427d"/>
    <p:sldId xmlns:r="http://schemas.openxmlformats.org/officeDocument/2006/relationships" id="261" r:id="R16f855e07a994ca7"/>
    <p:sldId xmlns:r="http://schemas.openxmlformats.org/officeDocument/2006/relationships" id="262" r:id="Raf64a50a1be7413d"/>
    <p:sldId xmlns:r="http://schemas.openxmlformats.org/officeDocument/2006/relationships" id="263" r:id="R0bbb451f19e1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322424af84aaf" /><Relationship Type="http://schemas.openxmlformats.org/officeDocument/2006/relationships/slideMaster" Target="/ppt/slideMasters/slideMaster1.xml" Id="Rb962a89ed5164f34" /><Relationship Type="http://schemas.openxmlformats.org/officeDocument/2006/relationships/notesMaster" Target="/ppt/notesMasters/notesMaster1.xml" Id="R7682b6c2bf9c4719" /><Relationship Type="http://schemas.openxmlformats.org/officeDocument/2006/relationships/presProps" Target="/ppt/presProps.xml" Id="R7cc1e80ad2d14655" /><Relationship Type="http://schemas.openxmlformats.org/officeDocument/2006/relationships/tableStyles" Target="/ppt/tableStyles.xml" Id="R1fbb873fbc864882" /><Relationship Type="http://schemas.openxmlformats.org/officeDocument/2006/relationships/slide" Target="/ppt/slides/slide1.xml" Id="R3bdfac9798d74a55" /><Relationship Type="http://schemas.openxmlformats.org/officeDocument/2006/relationships/slide" Target="/ppt/slides/slide2.xml" Id="R5699539cf4604c42" /><Relationship Type="http://schemas.openxmlformats.org/officeDocument/2006/relationships/slide" Target="/ppt/slides/slide3.xml" Id="R0d2ac6987a6e4494" /><Relationship Type="http://schemas.openxmlformats.org/officeDocument/2006/relationships/slide" Target="/ppt/slides/slide4.xml" Id="R78841970fae8461c" /><Relationship Type="http://schemas.openxmlformats.org/officeDocument/2006/relationships/slide" Target="/ppt/slides/slide5.xml" Id="R2db9bb6cb8e7427d" /><Relationship Type="http://schemas.openxmlformats.org/officeDocument/2006/relationships/slide" Target="/ppt/slides/slide6.xml" Id="R16f855e07a994ca7" /><Relationship Type="http://schemas.openxmlformats.org/officeDocument/2006/relationships/slide" Target="/ppt/slides/slide7.xml" Id="Raf64a50a1be7413d" /><Relationship Type="http://schemas.openxmlformats.org/officeDocument/2006/relationships/slide" Target="/ppt/slides/slide8.xml" Id="R0bbb451f19e1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0c40f0dd3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47b51347b4c63" /><Relationship Type="http://schemas.openxmlformats.org/officeDocument/2006/relationships/notesMaster" Target="/ppt/notesMasters/notesMaster1.xml" Id="R23c6e8c3e1f142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98809888344440" /><Relationship Type="http://schemas.openxmlformats.org/officeDocument/2006/relationships/notesMaster" Target="/ppt/notesMasters/notesMaster1.xml" Id="Rdf7bf9cc7846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d4105e83342ee" /><Relationship Type="http://schemas.openxmlformats.org/officeDocument/2006/relationships/notesMaster" Target="/ppt/notesMasters/notesMaster1.xml" Id="R962eeec09a7a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01739097224442" /><Relationship Type="http://schemas.openxmlformats.org/officeDocument/2006/relationships/notesMaster" Target="/ppt/notesMasters/notesMaster1.xml" Id="Rd5cd96b192df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a72a70b0a42b3" /><Relationship Type="http://schemas.openxmlformats.org/officeDocument/2006/relationships/notesMaster" Target="/ppt/notesMasters/notesMaster1.xml" Id="R02fd4dfa26dd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e33fe25a44dd1" /><Relationship Type="http://schemas.openxmlformats.org/officeDocument/2006/relationships/notesMaster" Target="/ppt/notesMasters/notesMaster1.xml" Id="Redf4973fd9bf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159aef8a8d43e5" /><Relationship Type="http://schemas.openxmlformats.org/officeDocument/2006/relationships/notesMaster" Target="/ppt/notesMasters/notesMaster1.xml" Id="Rf104ffa6802147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43a32d98c047c0" /><Relationship Type="http://schemas.openxmlformats.org/officeDocument/2006/relationships/notesMaster" Target="/ppt/notesMasters/notesMaster1.xml" Id="Rabc6e19ce6cc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STM32F407ZGT6的时钟配置与延时  彭俊杰  智装备241  2024306100324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这次沿着教师CH5EX01 HAL和STD的代码，回答四个问题：系统时钟在哪里建立，怎样改变，怎样读取，以及SysTick怎样形成延时。两份工程的板级接线相同，但HSE常量、初始化路径和滴答单位不同。另用普中SPL、独立HAL和CubeMX工程说明移植时容易出现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先确认工程身份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 | 教师HAL | 教师STD</a:t>
            </a:r>
          </a:p>
          <a:p xmlns:a="http://schemas.openxmlformats.org/drawingml/2006/main">
            <a:r>
              <a:t>LED与流水灯 | PE3、PE4；PB0至PB7 | PE3、PE4；PB0至PB7</a:t>
            </a:r>
          </a:p>
          <a:p xmlns:a="http://schemas.openxmlformats.org/drawingml/2006/main">
            <a:r>
              <a:t>晶振假设 | 8 MHz | 25 MHz</a:t>
            </a:r>
          </a:p>
          <a:p xmlns:a="http://schemas.openxmlformats.org/drawingml/2006/main">
            <a:r>
              <a:t>PLL参数 | M8 N336 P2 Q4 | M25 N336 P2 Q7</a:t>
            </a:r>
          </a:p>
          <a:p xmlns:a="http://schemas.openxmlformats.org/drawingml/2006/main">
            <a:r>
              <a:t>滴答周期 | 1 ms | 10 ms</a:t>
            </a:r>
          </a:p>
          <a:p xmlns:a="http://schemas.openxmlformats.org/drawingml/2006/main">
            <a:r>
              <a:t>原件PE3完整周期 | 约2 s，即0.5 Hz | 稳态约1 s，即1 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教师HAL原件的Q支路超过规格，后文说明修正方法。这里先保留原值以便逐行对应源文件，不能把修订值写回原件后再称为原始代码。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讲解时采用的证据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钟数值与LED节拍由代码、课件和视频画面分别推导。已有六份AC5历史日志为0错0警，但没有实体板，也未在这轮修订后重编目标工程。原Simulation截图停在Flash寄存器访问，不能作为PLL、GPIO或延时波形成功运行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图解表示调用关系，代码框注明原件节选或伪代码。后续上板时，还要测量晶振、MCO或定时器输出，才能将“配置频率”与“实测频率”对应起来。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复位后，处理器从向量表取得MSP初值和Reset_Handler入口。启动汇编调用SystemInit，再跳入Arm C运行库__main，完成数据初始化后进入main。函数名相同，并不保证两种库在SystemInit里做相同的事。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步骤 | 教师STD调用链 | 教师HAL调用链</a:t>
            </a:r>
          </a:p>
          <a:p xmlns:a="http://schemas.openxmlformats.org/drawingml/2006/main">
            <a:r>
              <a:t>启动汇编 | Reset_Handler → SystemInit | Reset_Handler → SystemInit</a:t>
            </a:r>
          </a:p>
          <a:p xmlns:a="http://schemas.openxmlformats.org/drawingml/2006/main">
            <a:r>
              <a:t>SystemInit | 设置FPU、系统配置并调用SetSysClock | 设置FPU、系统配置及向量表位置</a:t>
            </a:r>
          </a:p>
          <a:p xmlns:a="http://schemas.openxmlformats.org/drawingml/2006/main">
            <a:r>
              <a:t>main前后 | 进入main时已尝试配置主PLL | 进入main后HAL_Init → SystemClock_Config</a:t>
            </a:r>
          </a:p>
          <a:p xmlns:a="http://schemas.openxmlformats.org/drawingml/2006/main">
            <a:r>
              <a:t>外设与循环 | LED_Init → SysTick配置 → 循环 | MX_GPIO_Init → 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时钟初始化流程图解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Reset</a:t>
            </a:r>
          </a:p>
          <a:p xmlns:a="http://schemas.openxmlformats.org/drawingml/2006/main">
            <a:r>
              <a:t>  -&gt; load initial MSP and Reset_Handler</a:t>
            </a:r>
          </a:p>
          <a:p xmlns:a="http://schemas.openxmlformats.org/drawingml/2006/main">
            <a:r>
              <a:t>  -&gt; SystemInit</a:t>
            </a:r>
          </a:p>
          <a:p xmlns:a="http://schemas.openxmlformats.org/drawingml/2006/main">
            <a:r>
              <a:t>  -&gt; __main: initialize C runtime</a:t>
            </a:r>
          </a:p>
          <a:p xmlns:a="http://schemas.openxmlformats.org/drawingml/2006/main">
            <a:r>
              <a:t>  -&gt; main</a:t>
            </a:r>
          </a:p>
          <a:p xmlns:a="http://schemas.openxmlformats.org/drawingml/2006/main">
            <a:r>
              <a:t>       STD: use clock set by SetSysClock</a:t>
            </a:r>
          </a:p>
          <a:p xmlns:a="http://schemas.openxmlformats.org/drawingml/2006/main">
            <a:r>
              <a:t>       HAL: HAL_Init -&gt; SystemClock_Config</a:t>
            </a:r>
          </a:p>
          <a:p xmlns:a="http://schemas.openxmlformats.org/drawingml/2006/main">
            <a:r>
              <a:t>  -&gt; GPIO initialization</a:t>
            </a:r>
          </a:p>
          <a:p xmlns:a="http://schemas.openxmlformats.org/drawingml/2006/main">
            <a:r>
              <a:t>  -&gt; application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HAL_Init先建立基础HAL环境和初始时基。SystemClock_Config调用HAL_RCC_OscConfig配置振荡器与PLL，再通过HAL_RCC_ClockConfig配置SYSCLK、AHB/APB分频和Flash等待周期。后者更新SystemCoreClock，并按新的HCLK重新建立HAL时基。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检查失败路径同样重要。教师STD在HSE启动失败后没有得到168 MHz，可能留在默认HSI 16 MHz；HAL原件则进入Error_Handler。任何等待就绪的循环都应考虑外部晶振缺失、参数越界和超时处理。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系统时钟SYSCLK可选择HSI、HSE或PLL。以HAL原件的8 MHz输入为例，PLL先经M分频，再经N倍频，最后经P分频送入SYSCLK。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PLL input = HSE / M = 8 / 8 = 1 MHz</a:t>
            </a:r>
          </a:p>
          <a:p xmlns:a="http://schemas.openxmlformats.org/drawingml/2006/main">
            <a:r>
              <a:t>VCO       = PLL input * N = 1 * 336 = 336 MHz</a:t>
            </a:r>
          </a:p>
          <a:p xmlns:a="http://schemas.openxmlformats.org/drawingml/2006/main">
            <a:r>
              <a:t>SYSCLK    = VCO / P = 336 / 2 = 168 MHz</a:t>
            </a:r>
          </a:p>
          <a:p xmlns:a="http://schemas.openxmlformats.org/drawingml/2006/main">
            <a:r>
              <a:t>HCLK      = SYSCLK / 1 = 168 MHz</a:t>
            </a:r>
          </a:p>
          <a:p xmlns:a="http://schemas.openxmlformats.org/drawingml/2006/main">
            <a:r>
              <a:t>PCLK1     = HCLK / 4 = 42 MHz</a:t>
            </a:r>
          </a:p>
          <a:p xmlns:a="http://schemas.openxmlformats.org/drawingml/2006/main">
            <a:r>
              <a:t>PCLK2     = HCLK / 2 = 84 MHz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F407的HCLK、PCLK1、PCLK2最高分别为168、42、84 MHz。APB分频不为1时，相应定时器通常得到2倍PCLK，因此此例TIM2的内核时钟为84 MHz。GPIO输出翻转速度不能直接等同于AHB频率。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原件中必须单独处理的配置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教师HAL设置PLLQ=4，Q支路为336/4=84 MHz，超过DS8626 Rev12表36的75 MHz上限。独立修订版改为Q7后得到48 MHz，CPU与总线频率不变。即使没有调用USB，也不应把越界支路留作规范配置。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教师STD的25 MHz/M25同样得到1 MHz PLL输入。如果实际晶振为8 MHz而M仍为25，输入只有0.32 MHz，不满足PLL要求。53.76 MHz是形式计算值，不保证实际锁定；适配8 MHz板须同步改HSE_VALUE与PLL_M。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CubeMX视频中的频率设置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CubeMX新建工程视频10分20秒采用25 MHz、M20、N268、P2，所得主频为167.5 MHz。讲解接受这一接近值；它与上传clock168_gpio的8/M8/N336/P2是两个配置，不能改写成同一个168 MHz结果。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供电按芯片手册取VDD 1.8至3.6 V，并匹配稳压等级与Flash等待周期；开发板5 V输入不能直接接到MCU的VDD。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获取接口计算的是频率信息，并非用硬件仪器测量晶振。它们需要正确的RCC寄存器、HSE_VALUE/HSI_VALUE常量，以及由程序维护的软件缓存。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接口或变量 | 实际含义 | 检查重点</a:t>
            </a:r>
          </a:p>
          <a:p xmlns:a="http://schemas.openxmlformats.org/drawingml/2006/main">
            <a:r>
              <a:t>SystemCoreClock | HCLK的软件缓存 | 切频后是否更新</a:t>
            </a:r>
          </a:p>
          <a:p xmlns:a="http://schemas.openxmlformats.org/drawingml/2006/main">
            <a:r>
              <a:t>HAL_RCC_GetSysClockFreq | 按RCC与振荡器常量推算SYSCLK | HSE_VALUE是否等于真实输入</a:t>
            </a:r>
          </a:p>
          <a:p xmlns:a="http://schemas.openxmlformats.org/drawingml/2006/main">
            <a:r>
              <a:t>HAL_RCC_GetHCLKFreq | 直接返回SystemCoreClock | 不能认为每次自动读完整寄存器</a:t>
            </a:r>
          </a:p>
          <a:p xmlns:a="http://schemas.openxmlformats.org/drawingml/2006/main">
            <a:r>
              <a:t>HAL_RCC_GetPCLK1Freq / PCLK2Freq | 用HCLK缓存结合APB分频计算 | 缓存和分频都须正确</a:t>
            </a:r>
          </a:p>
          <a:p xmlns:a="http://schemas.openxmlformats.org/drawingml/2006/main">
            <a:r>
              <a:t>RCC_GetClocksFreq | 标准库读取配置并填写频率结构 | 仍依赖时钟常量，不是实测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一个缓存过期的例子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普中时钟工程在SystemInit先配置168 MHz，随后main调用RCC_HSE_Config(8,336,4,7)，把PLLP改成4。实际配置对应84/21/42 MHz，但代码未调用SystemCoreClockUpdate，缓存仍可能保留168 MHz。如果直接用该旧值配置SysTick，等待时间也会出错。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After a valid direct RCC change: */</a:t>
            </a:r>
          </a:p>
          <a:p xmlns:a="http://schemas.openxmlformats.org/drawingml/2006/main">
            <a:r>
              <a:t>SystemCoreClockUpdate();</a:t>
            </a:r>
          </a:p>
          <a:p xmlns:a="http://schemas.openxmlformats.org/drawingml/2006/main">
            <a:r>
              <a:t>/* Then rebuild the timing base for the new HCLK.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这段是使用顺序说明，并非对所有切频流程的完整替代。稳妥做法是走库提供的时钟配置流程，并检查返回值和RCC_CFGR.SWS；直接改寄存器还须保证安全的切换顺序、Flash等待周期与分频关系。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课堂提问：变量显示168000000是否证明芯片正在168 MHz运行？不能。变量可能是默认值，也可能依赖错误的HSE常量。应同时核对最后一次有效配置、时钟源状态，并在条件具备时测量输出。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SysTick是Cortex-M4内核中的24位递减定时器。选定计数时钟后，一个周期计数N次，LOAD应写N−1，周期为(LOAD+1)/fSysTick。CMSIS的SysTick_Config接收的是N，而不是已经减1的LOAD。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 | 计数时钟与周期 | N与LOAD</a:t>
            </a:r>
          </a:p>
          <a:p xmlns:a="http://schemas.openxmlformats.org/drawingml/2006/main">
            <a:r>
              <a:t>教师HAL默认时基 | HCLK168 MHz，1 ms | N168000；LOAD167999</a:t>
            </a:r>
          </a:p>
          <a:p xmlns:a="http://schemas.openxmlformats.org/drawingml/2006/main">
            <a:r>
              <a:t>教师CH5EX01 STD | HCLK168 MHz，10 ms | N1680000；LOAD1679999</a:t>
            </a:r>
          </a:p>
          <a:p xmlns:a="http://schemas.openxmlformats.org/drawingml/2006/main">
            <a:r>
              <a:t>若使用HCLK/8的1 ms周期 | 21 MHz，1 ms | N21000；LOAD20999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Standalone CMSIS setup, 168 MHz HCLK */</a:t>
            </a:r>
          </a:p>
          <a:p xmlns:a="http://schemas.openxmlformats.org/drawingml/2006/main">
            <a:r>
              <a:t>SysTick_Config(SystemCoreClock / 1000U);</a:t>
            </a:r>
          </a:p>
          <a:p xmlns:a="http://schemas.openxmlformats.org/drawingml/2006/main">
            <a:r>
              <a:t>/* CMSIS writes LOAD = ticks - 1.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Teacher CH5EX01 STD uses a 10 ms tick */</a:t>
            </a:r>
          </a:p>
          <a:p xmlns:a="http://schemas.openxmlformats.org/drawingml/2006/main">
            <a:r>
              <a:t>RCC_GetClocksFreq(&amp;RCC_Clocks);</a:t>
            </a:r>
          </a:p>
          <a:p xmlns:a="http://schemas.openxmlformats.org/drawingml/2006/main">
            <a:r>
              <a:t>SysTick_Config(RCC_Clocks.HCLK_Frequency / 100U);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HAL默认已由HAL_InitTick建立时基，main里不应为了调用HAL_Delay再初始化同一个SysTick。教师HAL的IOC存在HCLK/8文字，但实际CMSIS初始化设置CLKSOURCE=HCLK；分析运行逻辑时须沿生成源码与库函数追踪，不能只读IOC的一行。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滴答单位由配置决定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教师CH5EX01 STD的Delay(1)对应一个10 ms tick，Delay(10)约100 ms。CH5EX02 STD改成HCLK/1000后，Delay的单位才变成约1 ms。函数名和旧注释没有办法替代这一步核对。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24位计数器限制单次重载范围。长延时应累计多个滴答；更改HCLK后必须重新计算时基。课件算例中的LOAD168000应纠正为167999。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HAL等待累计毫秒数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SysTick_Handler调用HAL_IncTick，使uwTick随中断增长；HAL_GetTick返回这个累计值。HAL_Delay记录起点，用无符号时间差判断是否达到等待值。默认实现通常再加一个tick，以避免等待短于请求值。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HAL delay flow, simplified pseudocode */</a:t>
            </a:r>
          </a:p>
          <a:p xmlns:a="http://schemas.openxmlformats.org/drawingml/2006/main">
            <a:r>
              <a:t>start = HAL_GetTick();</a:t>
            </a:r>
          </a:p>
          <a:p xmlns:a="http://schemas.openxmlformats.org/drawingml/2006/main">
            <a:r>
              <a:t>wait = requested_ms + one_tick;</a:t>
            </a:r>
          </a:p>
          <a:p xmlns:a="http://schemas.openxmlformats.org/drawingml/2006/main">
            <a:r>
              <a:t>while ((uint32_t)(HAL_GetTick() - start) &lt; wait) {</a:t>
            </a:r>
          </a:p>
          <a:p xmlns:a="http://schemas.openxmlformats.org/drawingml/2006/main">
            <a:r>
              <a:t>    /* SysTick IRQ advances uwTick. */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这仍是阻塞等待。如果关闭中断，或在SysTick无法抢占的中断处理程序中等待，uwTick可能不再增长，函数也无法退出。HAL_MAX_DELAY等边界处理应以完整库实现为准。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教师STD等待剩余滴答归零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Teacher STD delay flow, simplified pseudocode */</a:t>
            </a:r>
          </a:p>
          <a:p xmlns:a="http://schemas.openxmlformats.org/drawingml/2006/main">
            <a:r>
              <a:t>Delay(ticks):</a:t>
            </a:r>
          </a:p>
          <a:p xmlns:a="http://schemas.openxmlformats.org/drawingml/2006/main">
            <a:r>
              <a:t>    TimingDelay = ticks</a:t>
            </a:r>
          </a:p>
          <a:p xmlns:a="http://schemas.openxmlformats.org/drawingml/2006/main">
            <a:r>
              <a:t>    while TimingDelay != 0:</a:t>
            </a:r>
          </a:p>
          <a:p xmlns:a="http://schemas.openxmlformats.org/drawingml/2006/main">
            <a:r>
              <a:t>        wait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SysTick_Handler:</a:t>
            </a:r>
          </a:p>
          <a:p xmlns:a="http://schemas.openxmlformats.org/drawingml/2006/main">
            <a:r>
              <a:t>    if TimingDelay != 0:</a:t>
            </a:r>
          </a:p>
          <a:p xmlns:a="http://schemas.openxmlformats.org/drawingml/2006/main">
            <a:r>
              <a:t>        TimingDelay--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这份STD工程同样依赖周期中断，只是变量表示剩余滴答，CH5EX01每个滴答10 ms。它不同于普中SysTick例程：后者选择HCLK/8，重装LOAD、轮询COUNTFLAG，结束后关闭计数器。两种实现不可混称为同一个Delay。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更简单的while(i--)只是按指令空转，受主频、优化与中断影响。若把普中轮询版直接放进HAL工程并关闭SysTick，会破坏HAL延时与超时服务；可改用另一个定时器，而不是让两个模块同时占用SysTick。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Hz心跳指完整亮灭周期1 s，因此每隔约500 ms翻转一次输出。教师HAL原件1000 ms翻转对应约0.5 Hz；视频HAL版本100 ms推进流水、每5轮翻转PE3，对应约1 Hz。课件的“心跳”用数字翻转即可表达；真正渐亮渐暗的呼吸灯还需要PWM占空比变化。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推荐的独立节拍思路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/* Pseudocode: independent nominal intervals */</a:t>
            </a:r>
          </a:p>
          <a:p xmlns:a="http://schemas.openxmlformats.org/drawingml/2006/main">
            <a:r>
              <a:t>now = HAL_GetTick();</a:t>
            </a:r>
          </a:p>
          <a:p xmlns:a="http://schemas.openxmlformats.org/drawingml/2006/main">
            <a:r>
              <a:t>if ((uint32_t)(now - last_flow) &gt;= 100U) {</a:t>
            </a:r>
          </a:p>
          <a:p xmlns:a="http://schemas.openxmlformats.org/drawingml/2006/main">
            <a:r>
              <a:t>    last_flow = now;</a:t>
            </a:r>
          </a:p>
          <a:p xmlns:a="http://schemas.openxmlformats.org/drawingml/2006/main">
            <a:r>
              <a:t>    advance_PB0_to_PB7();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if ((uint32_t)(now - last_heartbeat) &gt;= 500U) {</a:t>
            </a:r>
          </a:p>
          <a:p xmlns:a="http://schemas.openxmlformats.org/drawingml/2006/main">
            <a:r>
              <a:t>    last_heartbeat = now;</a:t>
            </a:r>
          </a:p>
          <a:p xmlns:a="http://schemas.openxmlformats.org/drawingml/2006/main">
            <a:r>
              <a:t>    toggle_PE3();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上是非阻塞调度思路，不是已经烧录验证的完整工程。循环足够及时运行时，两个输出各按自己的间隔推进；若任务长时间占用CPU，仍会推迟执行。对稳定采样或精确波形应采用硬件定时器，不能把主循环轮询当成零误差时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版本差异保留在原处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 | 等待与翻转 | 完整周期</a:t>
            </a:r>
          </a:p>
          <a:p xmlns:a="http://schemas.openxmlformats.org/drawingml/2006/main">
            <a:r>
              <a:t>课件例5-1要求 | 心跳1 Hz；PB依次循环 | 目标1 s</a:t>
            </a:r>
          </a:p>
          <a:p xmlns:a="http://schemas.openxmlformats.org/drawingml/2006/main">
            <a:r>
              <a:t>教师HAL RAR | 1000 ms一次翻转 | 约2 s</a:t>
            </a:r>
          </a:p>
          <a:p xmlns:a="http://schemas.openxmlformats.org/drawingml/2006/main">
            <a:r>
              <a:t>教师STD RAR | 100 ms一轮，每5轮翻转 | 稳态约1 s</a:t>
            </a:r>
          </a:p>
          <a:p xmlns:a="http://schemas.openxmlformats.org/drawingml/2006/main">
            <a:r>
              <a:t>HAL GPIO视频18分15秒 | 100 ms一轮，每5轮翻转 | 约1 s</a:t>
            </a:r>
          </a:p>
          <a:p xmlns:a="http://schemas.openxmlformats.org/drawingml/2006/main">
            <a:r>
              <a:t>SPL GPIO视频22分15秒 | Delay20，每轮翻转；10 ms tick | 约0.4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若用循环计数器每5步翻转，宜到5后显式归零，避免无符号计数器自然溢出影响模5分组。软件修改还需保持PB流水和PE3心跳需求独立，不要因修改某个Delay而同时改变所有节拍。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六份上传的Keil历史日志均为0 Error(s)、0 Warning(s)，采用Arm Compiler 5.06 update 7 build 960。Code大小依次为：普中时钟1524、普中SysTick1272、独立HAL3906、CubeMX3142、教师STD1528、教师HAL3390字节。不能把Code3906的旧截图作为教师HAL3390目标的构建证据。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现有Simulation截图显示独立HAL工程在HAL_Init的Flash缓存使能附近停下，error 65指向0x40023C00读权限。它证明该会话访问受限，不能推出实体板有故障，也不能证明全部SysTick功能没有仿真模型。本次没有取得GPIO波形、PLL锁定或延时误差的运行测量。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讲完后应能说明的四点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沿最后一次有效调用定位实际时钟配置，区分STD在SystemInit中配置与HAL在main中配置。第二，PLL与总线计算要连同晶振、电压和Flash条件一起检查。第三，getter和SystemCoreClock给的是软件计算信息，正确性依赖常量与缓存维护。第四，先确认滴答单位和等待条件，再解释Delay参数与LED完整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教师CH5EX01 HAL原工程 https://drive.google.com/file/d/1SiaXWNtQBBjrw8Dl70PK68exQ3V929ve/view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教师CH5EX01 STD原工程 https://drive.google.com/file/d/1BVRke_0FVb91vsfTokTQznbfqVBA4-GZ/view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STM32F407ZG数据手册 DS8626 https://www.st.com/resource/en/datasheet/stm32f407zg.pdf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STM32F405和F407参考手册 RM0090 https://www.st.com/resource/en/reference_manual/dm00031020-stm32f405-and-stm32f407-advanced-armbased-32bit-microcontrollers-stmicroelectronics.pdf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课程第5章GPIO与SysTick；Arm DUI0553B第4.4节；课程CubeMX新建工程、HAL GPIO、SPL GPIO视频。视频时间戳与原件版本见作业2的材料对照表。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CubeMX自定义逻辑应写在USER CODE BEGIN/END保护区内，避免重新生成时被覆盖；生成配置后仍须编写应用循环。下一次具备实物条件时，可输出MCO或定时器信号，测频并核对SysTick误差。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证据：教师CH5EX01 HAL/STD原件，课程第5章；DS8626 Rev12 表36；Arm DUI0553B 4.4。视频精确时间戳见对应正文。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28645285e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1e4acedf543d8" /><Relationship Type="http://schemas.openxmlformats.org/officeDocument/2006/relationships/slideLayout" Target="/ppt/slideLayouts/slideLayout1.xml" Id="Rdbca8aeed0c3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a8aeed0c3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cfc07c394cb6" /><Relationship Type="http://schemas.openxmlformats.org/officeDocument/2006/relationships/notesSlide" Target="/ppt/notesSlides/notesSlide1.xml" Id="R7a524c6a8a494d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6c8eafdce4d7a" /><Relationship Type="http://schemas.openxmlformats.org/officeDocument/2006/relationships/notesSlide" Target="/ppt/notesSlides/notesSlide2.xml" Id="Rb4f8617fe4dd49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cb136c5124e36" /><Relationship Type="http://schemas.openxmlformats.org/officeDocument/2006/relationships/notesSlide" Target="/ppt/notesSlides/notesSlide3.xml" Id="R71b3c9c34e38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01147551541dd" /><Relationship Type="http://schemas.openxmlformats.org/officeDocument/2006/relationships/notesSlide" Target="/ppt/notesSlides/notesSlide4.xml" Id="Rb22f08c9f5ee40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b9d743d714579" /><Relationship Type="http://schemas.openxmlformats.org/officeDocument/2006/relationships/notesSlide" Target="/ppt/notesSlides/notesSlide5.xml" Id="R93e34d41f591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fd7f205754109" /><Relationship Type="http://schemas.openxmlformats.org/officeDocument/2006/relationships/notesSlide" Target="/ppt/notesSlides/notesSlide6.xml" Id="R1809fb53e5a54d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b93d4fafa41ef" /><Relationship Type="http://schemas.openxmlformats.org/officeDocument/2006/relationships/notesSlide" Target="/ppt/notesSlides/notesSlide7.xml" Id="Rc084129ee2d64c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3cf68cfc24124" /><Relationship Type="http://schemas.openxmlformats.org/officeDocument/2006/relationships/notesSlide" Target="/ppt/notesSlides/notesSlide8.xml" Id="R63f385b2a16c49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DB07D-07BF-440F-B91B-8F0532C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时钟之迹：教师双例的范围与版本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BE477-63D9-4DF5-A95E-49272C8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24878-715B-4505-A805-5FD82C2D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245BE-9D43-4C88-83DE-552D827B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彭俊杰  智装备241  2024306100324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910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核对项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CH5EX01 HAL 原件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CH5EX01 STD 原件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板级接线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PE3/PE4，PB0–PB7 流水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PE3/PE4，PB0–PB7 流水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HSE / PLL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MHz；M8 N336 P2 Q4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 MHz；M25 N336 P2 Q7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滴答 / 心跳完整周期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ms / 约2 s（0.5 Hz）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ms / 稳态约1 s（1 Hz）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AF08A-CC11-4E16-A899-D7B34C2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课堂主线：启动、PLL、频率获取、SysTick、延时与GPIO节拍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94103-BA51-4DEF-8533-12FE38A1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普中两份SPL、独立HAL、CubeMX保留为对照工程，接线与参数不混用。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教师HAL原件Q4须修订；下页起区分原始代码与修订建议。</a:t>
            </a:r>
          </a:p>
        </p:txBody>
      </p:sp>
    </p:spTree>
    <p:extLst>
      <p:ext uri="{BB962C8B-B14F-4D97-AF65-F5344CB8AC3E}">
        <p14:creationId xmlns:p14="http://schemas.microsoft.com/office/powerpoint/2010/main" val="1061469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B25B1-015B-4002-B77F-F3A8CA0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启动路径：同名SystemInit，职责不同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77BD8-87D5-47B2-9754-9AC58D3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B34B-E94B-4DFC-84B3-43CC7AF9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9A3C-C314-45C1-9315-6510C72F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共同启动过程（伪代码）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551D-D801-486E-AE56-6876FEE0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复位取MSP和入口 → Reset_Handler → SystemInit → __main → main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247900"/>
          <a:ext xmlns:a="http://schemas.openxmlformats.org/drawingml/2006/main" cx="110490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429125"/>
                <a:gridCol w="4667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教师STD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教师HAL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SystemInit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调用SetSysClock，尝试配置主PLL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建立基础系统配置，不配置主PLL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进入main后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RCC_GetClocksFreq → SysTick_Config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Delay(1) → LED_Init → 循环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HAL_Init；SystemClock_Config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MX_GPIO_Init；应用循环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HSE启动失败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本例留在HSI 16 MHz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SystemCoreClock初值可能失实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本例进入Error_Handler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376D5-CA83-470A-8341-FE8DF650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HAL_RCC_ClockConfig更新SystemCoreClock，并重新建立HAL时基</a:t>
            </a:r>
          </a:p>
        </p:txBody>
      </p:sp>
    </p:spTree>
    <p:extLst>
      <p:ext uri="{BB962C8B-B14F-4D97-AF65-F5344CB8AC3E}">
        <p14:creationId xmlns:p14="http://schemas.microsoft.com/office/powerpoint/2010/main" val="1458049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76833-3652-4E27-AEAB-40BFE0E7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PLL与总线：168 MHz成立的条件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AAA80-0BDA-49B1-ADC1-A86B376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6F7D-3AF1-4957-A85C-A835582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BB6CE-7BA2-4AF4-9230-F2929A9E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8 ÷ 8 × 336 ÷ 2 = 168 MHz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2060B-D330-46BF-B631-39308E8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PLL输入1 MHz  ·  VCO 336 MHz  ·  HCLK 168 MHz</a:t>
            </a:r>
          </a:p>
          <a:p xmlns:a="http://schemas.openxmlformats.org/drawingml/2006/main">
            <a:pPr>
              <a:buNone/>
              <a:defRPr sz="21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APB1 ÷4：42 MHz  ·  APB2 ÷2：84 MHz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3105150"/>
          <a:ext xmlns:a="http://schemas.openxmlformats.org/drawingml/2006/main" cx="11049000" cy="2676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85812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 / 变化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数值与结论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教师HAL原件Q4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336/4 = 84 MHz，超过PLL48支路75 MHz上限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修订为Q7后48 MHz，CPU与总线频率不变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教师STD为25 MHz/M25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若实际8 MHz而仍M25：PLL输入0.32 MHz越界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53.76 MHz只是形式计算值，不能保证锁定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CubeMX视频10:20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25/M20×N268/P2 = 167.5 MHz</a:t>
                      </a:r>
                    </a:p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与上传8/M8/N336/P2工程分别记录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6A9C2-7C16-4FC6-94ED-87C3EA2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按芯片电气条件检查VDD、稳压等级和Flash等待周期；GPIO节拍另由程序决定</a:t>
            </a:r>
          </a:p>
        </p:txBody>
      </p:sp>
    </p:spTree>
    <p:extLst>
      <p:ext uri="{BB962C8B-B14F-4D97-AF65-F5344CB8AC3E}">
        <p14:creationId xmlns:p14="http://schemas.microsoft.com/office/powerpoint/2010/main" val="2128197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FC963-BC0C-4D7C-BAA1-F0DEFA9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频率获取：寄存器、常量与软件缓存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D756E-0BC9-46F1-94EB-31C55A3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39BFA-E752-4FF7-8E02-F340CE4D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228725"/>
          <a:ext xmlns:a="http://schemas.openxmlformats.org/drawingml/2006/main" cx="110490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524500"/>
              </a:tblGrid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接口 / 变量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实际来源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SystemCoreClock / HAL_RCC_GetHCLKFreq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HCLK缓存；GetHCLKFreq直接返回该变量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HAL_RCC_GetSysClockFreq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RCC配置与HSE_VALUE / HSI_VALUE推算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HAL_RCC_GetPCLK1Freq / PCLK2Freq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HCLK缓存结合APB分频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RCC_GetClocksFreq（STD）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读取配置计算各频率，仍依赖振荡器常量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59692-D33B-41BE-B859-D37BE023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普中对照：main把PLLP改为4，实际配置84/21/42 MHz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9397D-AB19-4AD2-B716-AA4FC1A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缓存却可能仍为168 MHz。直接改RCC后须正确更新SystemCoreClock，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并重新建立时基。软件读数不能代替晶振或MCO实测。</a:t>
            </a:r>
          </a:p>
        </p:txBody>
      </p:sp>
    </p:spTree>
    <p:extLst>
      <p:ext uri="{BB962C8B-B14F-4D97-AF65-F5344CB8AC3E}">
        <p14:creationId xmlns:p14="http://schemas.microsoft.com/office/powerpoint/2010/main" val="1297805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28443-0D22-4C3B-BDE9-62B70CB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SysTick：周期N次，LOAD写N−1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A3AAA-6ADF-44F4-88C1-DA0A56D5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6BAB5-8DDD-433D-B2BB-79BA5FE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F3B8F-3BDB-4656-8E73-C529C03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T = (LOAD + 1) / fSysTick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19300"/>
          <a:ext xmlns:a="http://schemas.openxmlformats.org/drawingml/2006/main" cx="110490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3667125"/>
                <a:gridCol w="3619500"/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实现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计数时钟 / 周期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 / LOAD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教师HAL默认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HCLK 168 MHz / 1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168000 / 167999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教师CH5EX01 STD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HCLK 168 MHz / 10 ms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1680000 / 1679999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HCLK/8算例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 MHz / 1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21000 / 20999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DCAC6-5A09-484E-A83A-6EBA628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SysTick_Config(SystemCoreClock / 1000U);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400E9-B4CB-406D-950E-C4D13D66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1049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CMSIS接收N并写入N−1。HAL已初始化时基，不要在main重复抢占SysTick。</a:t>
            </a:r>
          </a:p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CH5EX01 STD：Delay(1)约10 ms，Delay(10)约100 ms。</a:t>
            </a:r>
          </a:p>
        </p:txBody>
      </p:sp>
    </p:spTree>
    <p:extLst>
      <p:ext uri="{BB962C8B-B14F-4D97-AF65-F5344CB8AC3E}">
        <p14:creationId xmlns:p14="http://schemas.microsoft.com/office/powerpoint/2010/main" val="829194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A1D61-4433-49F6-8118-88A2960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Delay与HAL_Delay等待的变量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5D44B-B6D8-4849-8558-C5560B5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C8B7A-604A-4BBB-B0EA-6588E711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BECCF-D077-4D4D-B2C9-544B1EC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HAL：累计毫秒（伪代码）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6694B-95C2-495D-96AD-6EABC4E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2768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start = HAL_GetTick();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wait = requested_ms + one_tick;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while ((uint32_t)(HAL_GetTick()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       - start) &lt; wait) {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SysTick_Handler调用HAL_IncTick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uwTick持续增长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09A06-3EEF-4EF8-8012-A3A0A8B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62050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教师STD：剩余滴答（伪代码）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27669-726F-4877-BFD3-F70C51C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52768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TimingDelay = ticks;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while (TimingDelay != 0) {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每次SysTick中断：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若TimingDelay非零，则减1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CH5EX01每tick为10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09D16-7D3B-4999-8DFF-5554D348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34E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34E2C"/>
                </a:solidFill>
                <a:latin typeface="Noto Sans CJK SC"/>
                <a:ea typeface="Noto Sans CJK SC"/>
                <a:cs typeface="Noto Sans CJK SC"/>
              </a:rPr>
              <a:t>两者都阻塞等待，并依赖中断继续推进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1B64B-12B2-4897-ACAA-44E7846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关中断或在SysTick无法抢占的ISR中调用，可能一直等待。</a:t>
            </a:r>
          </a:p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普中轮询版使用HCLK/8与COUNTFLAG，并关闭计数器；不能直接混入HAL。</a:t>
            </a:r>
          </a:p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普通while(i--)空转还受主频、优化与中断影响。</a:t>
            </a:r>
          </a:p>
        </p:txBody>
      </p:sp>
    </p:spTree>
    <p:extLst>
      <p:ext uri="{BB962C8B-B14F-4D97-AF65-F5344CB8AC3E}">
        <p14:creationId xmlns:p14="http://schemas.microsoft.com/office/powerpoint/2010/main" val="1249372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D4202-550A-4791-AC9E-F737F764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GPIO节拍：一次翻转不等于一个周期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A95F8-E46B-471A-AB2B-0AB9743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ED02C-970E-45D7-A4C1-BCCF2B8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65E58-CF57-48D9-A41C-5B1FEC37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每500 ms翻转一次：完整周期约1 s，即1 Hz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933575"/>
          <a:ext xmlns:a="http://schemas.openxmlformats.org/drawingml/2006/main" cx="110490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6810375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翻转间隔 / 完整周期</a:t>
                      </a:r>
                    </a:p>
                  </a:txBody>
                  <a:tcPr marL="91440" marR="91440" marT="45720" marB="45720">
                    <a:solidFill>
                      <a:srgbClr val="255F9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教师HAL RAR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1000 ms / 约2 s（0.5 Hz）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教师STD RAR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每5个100 ms翻转 / 稳态约1 s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HAL GPIO视频18:15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每5个100 ms翻转 / 约1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SPL GPIO视频22:15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F41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Delay(20)，10 ms tick / 约0.4 s（2.5 Hz）</a:t>
                      </a:r>
                    </a:p>
                  </a:txBody>
                  <a:tcPr marL="91440" marR="91440" marT="45720" marB="45720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E96E-4BDF-4E53-99D1-C7ED70A7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独立调度示例：流水间隔选100 ms（非题干指定）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66CB0-4C9D-4E94-8525-203A2F2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距上次流水≥100 ms：推进PB0–PB7；距上次心跳≥500 ms：翻转PE3。</a:t>
            </a:r>
          </a:p>
          <a:p xmlns:a="http://schemas.openxmlformats.org/drawingml/2006/main">
            <a:pPr>
              <a:buNone/>
              <a:def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两项分别保存时间。循环延迟仍影响执行，精确波形应使用硬件定时器。</a:t>
            </a:r>
          </a:p>
        </p:txBody>
      </p:sp>
    </p:spTree>
    <p:extLst>
      <p:ext uri="{BB962C8B-B14F-4D97-AF65-F5344CB8AC3E}">
        <p14:creationId xmlns:p14="http://schemas.microsoft.com/office/powerpoint/2010/main" val="678358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3C657-320F-4AF5-BB16-7EE1FDF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证据与小结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C2204-6C3C-47BF-9F0C-24869B98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时钟之迹  ·  STM32F407ZGT6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2A15A-AB1F-4B53-BD7B-595914BA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F81B0-D764-4204-A777-5E76F73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沿代码回答四个问题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2E7BF-334C-4C29-94B8-78A9292E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1049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时钟在哪里建立？  STD在SystemInit，HAL在main中的配置函数</a:t>
            </a:r>
          </a:p>
          <a:p xmlns:a="http://schemas.openxmlformats.org/drawingml/2006/main">
            <a:pPr>
              <a:buNone/>
              <a:def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计算是否有效？      核晶振、PLL支路、总线及电气条件</a:t>
            </a:r>
          </a:p>
          <a:p xmlns:a="http://schemas.openxmlformats.org/drawingml/2006/main">
            <a:pPr>
              <a:buNone/>
              <a:def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读数是否可信？      核常量、缓存与最后一次有效配置</a:t>
            </a:r>
          </a:p>
          <a:p xmlns:a="http://schemas.openxmlformats.org/drawingml/2006/main">
            <a:pPr>
              <a:buNone/>
              <a:def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延时有多长？          先核滴答单位，再算翻转间隔和完整周期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9AFF8-7B96-4EB7-A412-110AA61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55F91"/>
                </a:solidFill>
                <a:latin typeface="Noto Sans CJK SC"/>
                <a:ea typeface="Noto Sans CJK SC"/>
                <a:cs typeface="Noto Sans CJK SC"/>
              </a:rPr>
              <a:t>目前能证明的范围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F5A35-EFC8-4947-8211-7D34FF4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六份历史AC5日志为0错0警，不能当作本轮修订后Keil重编。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旧Simulation停在Flash寄存器访问，未取得PLL、GPIO或延时波形测量。</a:t>
            </a:r>
          </a:p>
          <a:p xmlns:a="http://schemas.openxmlformats.org/drawingml/2006/main">
            <a:pPr>
              <a:buNone/>
              <a:def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72F41"/>
                </a:solidFill>
                <a:latin typeface="Noto Sans CJK SC"/>
                <a:ea typeface="Noto Sans CJK SC"/>
                <a:cs typeface="Noto Sans CJK SC"/>
              </a:rPr>
              <a:t>主机模型检验软件逻辑，无实体板，不能称MCU仿真或板测。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79F8A-15C5-4B0B-ADA2-EEA3AC0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3687A"/>
                </a:solidFill>
                <a:latin typeface="Noto Sans CJK SC"/>
                <a:ea typeface="Noto Sans CJK SC"/>
                <a:cs typeface="Noto Sans CJK SC"/>
              </a:rPr>
              <a:t>依据：教师CH5EX01源码、课程第5章与视频、DS8626 Rev12、Arm DUI0553B §4.4</a:t>
            </a:r>
          </a:p>
        </p:txBody>
      </p:sp>
    </p:spTree>
    <p:extLst>
      <p:ext uri="{BB962C8B-B14F-4D97-AF65-F5344CB8AC3E}">
        <p14:creationId xmlns:p14="http://schemas.microsoft.com/office/powerpoint/2010/main" val="18102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2026-10-05T15:23:49.2580000Z</dcterms:created>
  <dcterms:modified xsi:type="dcterms:W3CDTF">2026-10-05T15:23:49.2580000Z</dcterms:modified>
</coreProperties>
</file>