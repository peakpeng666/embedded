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沿着老师的两份例程，追踪STM32F407的时钟。主线只有四步：初始化、设置、获取、应用。我们要解释的是，芯片怎样从时钟源得到一百六十八兆赫，又怎样把这个频率变成一次毫秒级延时。两份工程分别使用HAL库和标准外设库，开发环境对应Keil MDK与STM32CubeMX。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函数放回四个阶段。初始化解决程序从哪里开始，重点看SystemInit和HAL_Init。设置阶段决定时钟频率和滴答周期，对应SystemClock_Config与SysTick_Config。获取阶段有两类函数：一类读取当前配置对应的频率，另一类通过HAL_GetTick读取累计毫秒数。最后是应用，通过Delay或HAL_Delay安排LED动作。这两份例程的外部时钟参数不同，HAL配置八兆赫，标准库配置二十五兆赫，但它们都通过PLL得到一百六十八兆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复位以后，启动文件先调用SystemInit，再进入C运行时初始化，最后才到main。标准库这份工程在SystemInit里面调用SetSysClock，所以到main时主频已经配置好了。HAL工程的主频设置在main里：第七十三行调用HAL_Init，建立默认时基；第八十行调用SystemClock_Config，设置系统时钟；然后再初始化GPIO。时钟切换会改变计数速度，因此HAL_RCC_ClockConfig在更新SystemCoreClock以后，还会再次调用HAL_InitTick，让滴答周期继续保持一毫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直接从HAL的PLL参数计算。输入是八兆赫，先除以M，也就是八，得到一兆赫；再乘以N，也就是三百三十六，得到VCO的三百三十六兆赫；最后除以P，也就是二，得到一百六十八兆赫的系统时钟。标准库把输入和M都设为二十五，因此最后结果相同。Q控制的是另一条输出支路：老师HAL例程写的是四，三百三十六除以四等于八十四兆赫；如果要得到USB使用的四十八兆赫，这里应取七。计算时要分别沿P、Q两条支路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主频确定后，还要继续分配到各条总线。AHB不再分频，所以HCLK仍是一百六十八兆赫，供CPU和AHB总线使用。APB1除以四得到四十二兆赫，APB2除以二得到八十四兆赫。这里需要单独看定时器：对于F407，当APB分频值为一时，定时器频率与PCLK相同；当分频值大于一时，定时器时钟是PCLK的两倍。因此本例APB1定时器是八十四兆赫，APB2定时器是一百六十八兆赫。下方三行就是原工程的分频设置，随后调用HAL_RCC_ClockConfig，并设置五个Flash等待周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老师提到的Get，可以从单位区分。左边获取的是频率，单位是赫兹。配置完成后，SYSCLK和HCLK都是一亿六千八百万，PCLK1是四千二百万，PCLK2是八千四百万。标准库用RCC_GetClocksFreq一次获得这一组数据。右边HAL_GetTick返回的是uwTick，也就是软件累计的毫秒数，默认每次SysTick中断加一。SystemCoreClock则是HCLK的软件记录；SystemCoreClockUpdate根据寄存器重新计算这个记录，它本身不切换硬件时钟。频率值说明一秒有多少拍，GetTick说明软件时间已经走了多少毫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ysTick是二十四位递减计数器，计数到零产生中断，随后重新装载。一个周期需要LOAD加一拍，因此周期等于LOAD加一再除以计数时钟频率。这两份工程调用的CMSIS配置函数都选择HCLK作为计数时钟。标准库把一百六十八兆赫除以一百，每秒中断一百次，所以每拍十毫秒，重装值是一百六十七万九千九百九十九。HAL默认每秒一千次，每拍一毫秒，重装值是十六万七千九百九十九。底部两行是工程中的实际配置表达式，HAL的uwTickFreq默认等于一。时钟频率改变以后，需要相应调整重装值，才能保持相同的滴答时长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准库的Delay采用倒计数。调用时把参数写入uwTimingDelay，主程序一直检查这个变量，直到它归零。另一边，SysTick每十毫秒触发中断，调用TimingDelay_Decrement；只要计数不为零，就减一。流程图中的循环对应的正是这段等待。原文件把uwTimingDelay声明为带有__IO限定的变量，保证主程序能够观察到中断对它的修改。因此这份例程中，Delay的一个单位是一个十毫秒滴答，Delay十大约等待一百毫秒。函数名相同，参数的时间含义仍要回到滴答设置中确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AL时基可以顺着四个函数读下来：HAL_InitTick配置时基，HAL_IncTick累计时间，HAL_GetTick读取毫秒，HAL_Delay比较经过时间。HAL_Delay使用的是累计时间差。它先通过HAL_GetTick记下起点，再把参数保存为wait。默认滴答是一毫秒，代码给wait额外加一个滴答，保证等待不少于请求的时长。随后不断读取当前计数，直到当前值减去起点达到wait，才返回。与此同时，SysTick_Handler持续调用HAL_IncTick，默认每次把uwTick加一。原main调用HAL_Delay一千，因此等待约一秒。标准库是把一个变量减到零，HAL是把经过的时间加到目标；两者都是借助滴答中断推进软件时间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两份真实主循环，就能把时间与现象对应起来。标准库每次循环Delay十，所以流水灯约每一百毫秒移动一位；LED2则由Index除以五的余数决定，每五次循环翻转一次，稳定运行后翻转间隔约五百毫秒。一次翻转只完成从亮到灭或者从灭到亮，所以完整亮灭周期约一秒。HAL每次循环先等待一千毫秒，然后立即翻转LED并移动流水灯，所以翻转间隔约一秒，完整亮灭周期约两秒。需要精确周期或者输出波形时，可以交给TIM和PWM；主循环需要兼顾其他任务时，可以比较tick差值来决定什么时候执行下一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把不同的时钟放回它们的任务里。HSI是内部十六兆赫RC，能够用于启动和后备；HSE是外部晶振参考，PLL对参考时钟进行倍频和分频。选定的系统输出成为SYSCLK，再经AHB、APB分频到CPU、总线和外设。低速部分，外部三万二千七百六十八赫兹的LSE适合RTC走时，内部约三十二千赫兹的LSI可供独立看门狗使用。软件时间基准可以用SysTick，周期中断和定时波形可用TIM或PWM。还有一个实际操作：使用外设之前，要先打开时钟门控。页面底部就是GPIO初始化文件中使能GPIOE时钟的语句，未使用的外设可以关闭时钟来降低功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着这条线，时钟就不只是几个频率数字。初始化找到入口，设置阶段算出PLL、总线和SysTick，获取阶段区分频率与累计时间，应用阶段再把延时连接到LED动作。两份例程最直观的区别是：标准库一拍十毫秒，HAL默认一拍一毫秒。调用延时函数之前确认时基和单位，就能解释为什么这段代码产生这样的动作。用到的代码来自老师的两份工程，时钟树和SysTick原理分别对应RM0090与PM0214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lock_trac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lock_trac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urse"/>
          <p:cNvGrpSpPr/>
          <p:nvPr/>
        </p:nvGrpSpPr>
        <p:grpSpPr>
          <a:xfrm>
            <a:off x="601980" y="571500"/>
            <a:ext cx="10980420" cy="447675"/>
            <a:chOff x="601980" y="571500"/>
            <a:chExt cx="10980420" cy="447675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571500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嵌入式系统原理及应用 · 课堂讨论 01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009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90550" y="1657350"/>
            <a:ext cx="3268980" cy="2379345"/>
            <a:chOff x="590550" y="1657350"/>
            <a:chExt cx="3268980" cy="2379345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657350"/>
              <a:ext cx="326898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时钟之迹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7032" y="273558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从时钟源，到一次延时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0080" y="3429000"/>
              <a:ext cx="219646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STM32F407ZGT6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Keil MDK / STM32CubeMX</a:t>
              </a:r>
            </a:p>
          </p:txBody>
        </p:sp>
      </p:grpSp>
      <p:grpSp>
        <p:nvGrpSpPr>
          <p:cNvPr id="20" name="signal"/>
          <p:cNvGrpSpPr/>
          <p:nvPr/>
        </p:nvGrpSpPr>
        <p:grpSpPr>
          <a:xfrm>
            <a:off x="7524750" y="1762125"/>
            <a:ext cx="4057650" cy="2703195"/>
            <a:chOff x="7524750" y="1762125"/>
            <a:chExt cx="4057650" cy="2703195"/>
          </a:xfrm>
        </p:grpSpPr>
        <p:sp>
          <p:nvSpPr>
            <p:cNvPr id="9" name="Line 9"/>
            <p:cNvSpPr/>
            <p:nvPr/>
          </p:nvSpPr>
          <p:spPr>
            <a:xfrm>
              <a:off x="7524750" y="1762125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4750" y="2000250"/>
              <a:ext cx="1370838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168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114282" y="2421255"/>
              <a:ext cx="5640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MHz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524750" y="30099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953375" y="2819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953375" y="28194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334375" y="2819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34375" y="3009900"/>
              <a:ext cx="3248025" cy="9525"/>
            </a:xfrm>
            <a:custGeom>
              <a:avLst/>
              <a:gdLst/>
              <a:ahLst/>
              <a:cxnLst/>
              <a:rect l="l" t="t" r="r" b="b"/>
              <a:pathLst>
                <a:path w="3248025" h="9525">
                  <a:moveTo>
                    <a:pt x="0" y="0"/>
                  </a:moveTo>
                  <a:lnTo>
                    <a:pt x="3248025" y="0"/>
                  </a:lnTo>
                </a:path>
              </a:pathLst>
            </a:custGeom>
            <a:noFill/>
            <a:ln w="28575">
              <a:solidFill>
                <a:srgbClr val="73D5D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24750" y="3297555"/>
              <a:ext cx="41570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8907" y="3621405"/>
              <a:ext cx="3888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5230" y="4171950"/>
              <a:ext cx="2884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HAL 默认滴答 · 时间从这里开始</a:t>
              </a:r>
            </a:p>
          </p:txBody>
        </p:sp>
      </p:grpSp>
      <p:grpSp>
        <p:nvGrpSpPr>
          <p:cNvPr id="26" name="stages"/>
          <p:cNvGrpSpPr/>
          <p:nvPr/>
        </p:nvGrpSpPr>
        <p:grpSpPr>
          <a:xfrm>
            <a:off x="600456" y="5029200"/>
            <a:ext cx="10981944" cy="653034"/>
            <a:chOff x="600456" y="5029200"/>
            <a:chExt cx="10981944" cy="653034"/>
          </a:xfrm>
        </p:grpSpPr>
        <p:sp>
          <p:nvSpPr>
            <p:cNvPr id="21" name="Line 21"/>
            <p:cNvSpPr/>
            <p:nvPr/>
          </p:nvSpPr>
          <p:spPr>
            <a:xfrm>
              <a:off x="609600" y="502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0456" y="533019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01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初始化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5581" y="5330190"/>
              <a:ext cx="842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02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设置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82131" y="5330190"/>
              <a:ext cx="842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03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获取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92006" y="5330190"/>
              <a:ext cx="842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04</a:t>
              </a:r>
              <a:r>
                <a:rPr lang="zh-CN" sz="18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 应用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290310"/>
            <a:ext cx="10984992" cy="234696"/>
            <a:chOff x="603504" y="6290310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290310"/>
              <a:ext cx="2885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代码追踪：CH5EX01HAL / CH5Ex01STD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2903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069080" cy="954405"/>
            <a:chOff x="594360" y="480060"/>
            <a:chExt cx="406908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追踪路线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0690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四个阶段，一条时间线</a:t>
              </a:r>
            </a:p>
          </p:txBody>
        </p:sp>
      </p:grpSp>
      <p:grpSp>
        <p:nvGrpSpPr>
          <p:cNvPr id="26" name="four-phases"/>
          <p:cNvGrpSpPr/>
          <p:nvPr/>
        </p:nvGrpSpPr>
        <p:grpSpPr>
          <a:xfrm>
            <a:off x="637032" y="2009775"/>
            <a:ext cx="10650093" cy="2512695"/>
            <a:chOff x="637032" y="2009775"/>
            <a:chExt cx="10650093" cy="2512695"/>
          </a:xfrm>
        </p:grpSpPr>
        <p:sp>
          <p:nvSpPr>
            <p:cNvPr id="5" name="Line 5"/>
            <p:cNvSpPr/>
            <p:nvPr/>
          </p:nvSpPr>
          <p:spPr>
            <a:xfrm>
              <a:off x="857250" y="2286000"/>
              <a:ext cx="10429875" cy="9525"/>
            </a:xfrm>
            <a:custGeom>
              <a:avLst/>
              <a:gdLst/>
              <a:ahLst/>
              <a:cxnLst/>
              <a:rect l="l" t="t" r="r" b="b"/>
              <a:pathLst>
                <a:path w="10429875" h="9525">
                  <a:moveTo>
                    <a:pt x="0" y="0"/>
                  </a:moveTo>
                  <a:lnTo>
                    <a:pt x="1042987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38175" y="2009775"/>
              <a:ext cx="552450" cy="552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19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3419475" y="2009775"/>
              <a:ext cx="552450" cy="552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532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200775" y="2009775"/>
              <a:ext cx="552450" cy="552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345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982075" y="2009775"/>
              <a:ext cx="552450" cy="552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15882" y="2167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7032" y="28117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18332" y="28117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99632" y="28117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80932" y="281178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5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程序从哪里开始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198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时钟与滴答多快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11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当前频率与时间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8245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什么时候做动作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0080" y="3933825"/>
              <a:ext cx="12725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SystemInit()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HAL_Init()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1380" y="3933825"/>
              <a:ext cx="21107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SystemClock_Config()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SysTick_Config()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2680" y="3933825"/>
              <a:ext cx="19011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HAL_RCC_Get…Freq()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HAL_GetTick()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83980" y="3933825"/>
              <a:ext cx="11677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Delay()</a:t>
              </a:r>
              <a:br/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HAL_Delay()</a:t>
              </a:r>
            </a:p>
          </p:txBody>
        </p:sp>
      </p:grpSp>
      <p:grpSp>
        <p:nvGrpSpPr>
          <p:cNvPr id="31" name="examples"/>
          <p:cNvGrpSpPr/>
          <p:nvPr/>
        </p:nvGrpSpPr>
        <p:grpSpPr>
          <a:xfrm>
            <a:off x="609600" y="5219700"/>
            <a:ext cx="10972800" cy="733425"/>
            <a:chOff x="609600" y="5219700"/>
            <a:chExt cx="10972800" cy="733425"/>
          </a:xfrm>
        </p:grpSpPr>
        <p:sp>
          <p:nvSpPr>
            <p:cNvPr id="27" name="Rectangle 27"/>
            <p:cNvSpPr/>
            <p:nvPr/>
          </p:nvSpPr>
          <p:spPr>
            <a:xfrm>
              <a:off x="609600" y="5219700"/>
              <a:ext cx="10972800" cy="733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580" y="5362575"/>
              <a:ext cx="3148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CH5EX01HAL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外部时钟配置 8 MHz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07430" y="5362575"/>
              <a:ext cx="3254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CH5Ex01STD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外部时钟配置 25 MHz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5680710"/>
              <a:ext cx="4738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两份实际例程，主频均配置为 168 MHz；先追函数，再核对参数。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299835"/>
              <a:ext cx="6740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main.c、hal_conf.h；STD Usermain.c、system_stm32f4xx.c、stm32f4xx.h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876800" cy="954405"/>
            <a:chOff x="594360" y="480060"/>
            <a:chExt cx="487680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初始化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初始化：先找到真正的入口</a:t>
              </a:r>
            </a:p>
          </p:txBody>
        </p:sp>
      </p:grpSp>
      <p:grpSp>
        <p:nvGrpSpPr>
          <p:cNvPr id="14" name="startup"/>
          <p:cNvGrpSpPr/>
          <p:nvPr/>
        </p:nvGrpSpPr>
        <p:grpSpPr>
          <a:xfrm>
            <a:off x="609600" y="1685925"/>
            <a:ext cx="10972800" cy="733425"/>
            <a:chOff x="609600" y="1685925"/>
            <a:chExt cx="10972800" cy="733425"/>
          </a:xfrm>
        </p:grpSpPr>
        <p:sp>
          <p:nvSpPr>
            <p:cNvPr id="5" name="Rectangle 5"/>
            <p:cNvSpPr/>
            <p:nvPr/>
          </p:nvSpPr>
          <p:spPr>
            <a:xfrm>
              <a:off x="609600" y="1685925"/>
              <a:ext cx="10972800" cy="733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9392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52981" y="1939290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SystemInit()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05656" y="1939290"/>
              <a:ext cx="16898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 运行时初始化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44106" y="193929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main()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19225" y="2047875"/>
              <a:ext cx="23812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3524250" y="2047875"/>
              <a:ext cx="4572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6191250" y="2047875"/>
              <a:ext cx="600075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64880" y="1952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两份工程共同的入口</a:t>
              </a:r>
            </a:p>
          </p:txBody>
        </p:sp>
      </p:grpSp>
      <p:grpSp>
        <p:nvGrpSpPr>
          <p:cNvPr id="18" name="standard-init"/>
          <p:cNvGrpSpPr/>
          <p:nvPr/>
        </p:nvGrpSpPr>
        <p:grpSpPr>
          <a:xfrm>
            <a:off x="598932" y="2811780"/>
            <a:ext cx="3400616" cy="2329815"/>
            <a:chOff x="598932" y="2811780"/>
            <a:chExt cx="3400616" cy="2329815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2811780"/>
              <a:ext cx="25034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标准库 · main 之前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3425190"/>
              <a:ext cx="2944368" cy="1247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SystemInit()</a:t>
              </a:r>
              <a:br/>
              <a:r>
                <a:rPr lang="en-US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  → SetSysClock()</a:t>
              </a:r>
              <a:br/>
              <a:r>
                <a:rPr lang="zh-CN" sz="18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 xml:space="preserve">  → HSE + PLL + 总线分频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4848225"/>
              <a:ext cx="3397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 main 时，主时钟配置已经完成。</a:t>
              </a:r>
            </a:p>
          </p:txBody>
        </p:sp>
      </p:grpSp>
      <p:grpSp>
        <p:nvGrpSpPr>
          <p:cNvPr id="24" name="hal-init"/>
          <p:cNvGrpSpPr/>
          <p:nvPr/>
        </p:nvGrpSpPr>
        <p:grpSpPr>
          <a:xfrm>
            <a:off x="5876925" y="2811780"/>
            <a:ext cx="5705475" cy="2329815"/>
            <a:chOff x="5876925" y="2811780"/>
            <a:chExt cx="5705475" cy="2329815"/>
          </a:xfrm>
        </p:grpSpPr>
        <p:sp>
          <p:nvSpPr>
            <p:cNvPr id="19" name="TextBox 19"/>
            <p:cNvSpPr txBox="1"/>
            <p:nvPr/>
          </p:nvSpPr>
          <p:spPr>
            <a:xfrm>
              <a:off x="6094857" y="2811780"/>
              <a:ext cx="19002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 · main 中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876925" y="3248025"/>
              <a:ext cx="5705475" cy="1504950"/>
            </a:xfrm>
            <a:prstGeom prst="roundRect">
              <a:avLst>
                <a:gd name="adj" fmla="val 506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99429" y="3404235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main.c:73 / 80 / 87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7905" y="3752850"/>
              <a:ext cx="25298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73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HAL_Init();</a:t>
              </a:r>
              <a:br/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80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SystemClock_Config();</a:t>
              </a:r>
              <a:br/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87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MX_GPIO_Init();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97905" y="4848225"/>
              <a:ext cx="30956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先建默认时基，再设置 168 MHz。</a:t>
              </a:r>
            </a:p>
          </p:txBody>
        </p:sp>
      </p:grpSp>
      <p:grpSp>
        <p:nvGrpSpPr>
          <p:cNvPr id="27" name="tick-refresh"/>
          <p:cNvGrpSpPr/>
          <p:nvPr/>
        </p:nvGrpSpPr>
        <p:grpSpPr>
          <a:xfrm>
            <a:off x="601980" y="5391150"/>
            <a:ext cx="10980420" cy="512445"/>
            <a:chOff x="601980" y="5391150"/>
            <a:chExt cx="10980420" cy="512445"/>
          </a:xfrm>
        </p:grpSpPr>
        <p:sp>
          <p:nvSpPr>
            <p:cNvPr id="25" name="Line 25"/>
            <p:cNvSpPr/>
            <p:nvPr/>
          </p:nvSpPr>
          <p:spPr>
            <a:xfrm>
              <a:off x="609600" y="5391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980" y="5610225"/>
              <a:ext cx="86346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切换时钟后：HAL_RCC_ClockConfig() 更新 SystemCoreClock，并再次调用 HAL_InitTick()。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299835"/>
              <a:ext cx="66969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源码：两工程启动文件与 system_stm32f4xx.c；HAL main.c:73–87、hal_rcc.c:718–722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981891" cy="954405"/>
            <a:chOff x="594360" y="480060"/>
            <a:chExt cx="5981891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设置时钟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98189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设置：8 MHz 怎样变成 168 MHz</a:t>
              </a:r>
            </a:p>
          </p:txBody>
        </p:sp>
      </p:grpSp>
      <p:grpSp>
        <p:nvGrpSpPr>
          <p:cNvPr id="22" name="pll-equation"/>
          <p:cNvGrpSpPr/>
          <p:nvPr/>
        </p:nvGrpSpPr>
        <p:grpSpPr>
          <a:xfrm>
            <a:off x="609600" y="1809750"/>
            <a:ext cx="10972800" cy="1430655"/>
            <a:chOff x="609600" y="1809750"/>
            <a:chExt cx="10972800" cy="1430655"/>
          </a:xfrm>
        </p:grpSpPr>
        <p:sp>
          <p:nvSpPr>
            <p:cNvPr id="5" name="TextBox 5"/>
            <p:cNvSpPr txBox="1"/>
            <p:nvPr/>
          </p:nvSpPr>
          <p:spPr>
            <a:xfrm>
              <a:off x="711708" y="1809750"/>
              <a:ext cx="367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HSE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12720" y="1809750"/>
              <a:ext cx="175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915281" y="1809750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15581" y="1809750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74911" y="1809750"/>
              <a:ext cx="7193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SYSCLK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87495" y="2249805"/>
              <a:ext cx="9832543" cy="990600"/>
              <a:chOff x="687495" y="2249805"/>
              <a:chExt cx="9832543" cy="9906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874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8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399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÷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924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8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44995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×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96111" y="2249805"/>
                <a:ext cx="1170927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336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21520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÷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174020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240820" y="2249805"/>
                <a:ext cx="415709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=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49111" y="2249805"/>
                <a:ext cx="1170927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5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168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0809732" y="2573655"/>
              <a:ext cx="5640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MHz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3162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pll-code"/>
          <p:cNvGrpSpPr/>
          <p:nvPr/>
        </p:nvGrpSpPr>
        <p:grpSpPr>
          <a:xfrm>
            <a:off x="609600" y="3400425"/>
            <a:ext cx="6981825" cy="2428875"/>
            <a:chOff x="609600" y="3400425"/>
            <a:chExt cx="6981825" cy="2428875"/>
          </a:xfrm>
        </p:grpSpPr>
        <p:sp>
          <p:nvSpPr>
            <p:cNvPr id="23" name="Rectangle 23"/>
            <p:cNvSpPr/>
            <p:nvPr/>
          </p:nvSpPr>
          <p:spPr>
            <a:xfrm>
              <a:off x="609600" y="3400425"/>
              <a:ext cx="6981825" cy="2428875"/>
            </a:xfrm>
            <a:prstGeom prst="roundRect">
              <a:avLst>
                <a:gd name="adj" fmla="val 313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579" y="3604260"/>
              <a:ext cx="2398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CH5EX01HAL / main.c:136–140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055" y="3981450"/>
              <a:ext cx="5882640" cy="151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136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RCC_OscInitStruct.PLL.PLLSource = RCC_PLLSOURCE_HSE;</a:t>
              </a:r>
              <a:br/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137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RCC_OscInitStruct.PLL.PLLM = 8;</a:t>
              </a:r>
              <a:br/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138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RCC_OscInitStruct.PLL.PLLN = 336;</a:t>
              </a:r>
              <a:br/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139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RCC_OscInitStruct.PLL.PLLP = RCC_PLLP_DIV2;</a:t>
              </a:r>
              <a:br/>
              <a:r>
                <a:rPr lang="zh-CN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 xml:space="preserve">140 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RCC_OscInitStruct.PLL.PLLQ = </a:t>
              </a:r>
              <a:r>
                <a:rPr lang="zh-CN" sz="1500" dirty="0">
                  <a:solidFill>
                    <a:srgbClr val="F3AD80"/>
                  </a:solidFill>
                  <a:latin typeface="Consolas"/>
                  <a:ea typeface="Consolas"/>
                  <a:cs typeface="Consolas"/>
                </a:rPr>
                <a:t>4</a:t>
              </a:r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</p:grpSp>
      <p:grpSp>
        <p:nvGrpSpPr>
          <p:cNvPr id="32" name="q-branch"/>
          <p:cNvGrpSpPr/>
          <p:nvPr/>
        </p:nvGrpSpPr>
        <p:grpSpPr>
          <a:xfrm>
            <a:off x="7961757" y="3459480"/>
            <a:ext cx="3620643" cy="2205990"/>
            <a:chOff x="7961757" y="3459480"/>
            <a:chExt cx="3620643" cy="2205990"/>
          </a:xfrm>
        </p:grpSpPr>
        <p:sp>
          <p:nvSpPr>
            <p:cNvPr id="27" name="TextBox 27"/>
            <p:cNvSpPr txBox="1"/>
            <p:nvPr/>
          </p:nvSpPr>
          <p:spPr>
            <a:xfrm>
              <a:off x="7961757" y="3459480"/>
              <a:ext cx="32399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同一个 VCO，另一条支路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63281" y="3977640"/>
              <a:ext cx="29363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原代码：336 ÷ 4 = 84 MHz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63281" y="4358640"/>
              <a:ext cx="2831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USB 48 MHz → Q 应设为 7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972425" y="4819650"/>
              <a:ext cx="3609975" cy="9525"/>
            </a:xfrm>
            <a:custGeom>
              <a:avLst/>
              <a:gdLst/>
              <a:ahLst/>
              <a:cxnLst/>
              <a:rect l="l" t="t" r="r" b="b"/>
              <a:pathLst>
                <a:path w="3609975" h="9525">
                  <a:moveTo>
                    <a:pt x="0" y="0"/>
                  </a:moveTo>
                  <a:lnTo>
                    <a:pt x="36099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64805" y="5057775"/>
              <a:ext cx="2872740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标准库：25 ÷ 25 × 336 ÷ 2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同样得到 168 MHz；Q 原值为 7。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299835"/>
              <a:ext cx="68106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main.c:136–140；STD system_stm32f4xx.c:371、384、401–403；RM0090 §6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876800" cy="954405"/>
            <a:chOff x="594360" y="480060"/>
            <a:chExt cx="487680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设置时钟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设置：主频沿总线继续分配</a:t>
              </a:r>
            </a:p>
          </p:txBody>
        </p:sp>
      </p:grpSp>
      <p:grpSp>
        <p:nvGrpSpPr>
          <p:cNvPr id="23" name="clock-tree"/>
          <p:cNvGrpSpPr/>
          <p:nvPr/>
        </p:nvGrpSpPr>
        <p:grpSpPr>
          <a:xfrm>
            <a:off x="609600" y="1885950"/>
            <a:ext cx="9251632" cy="2417445"/>
            <a:chOff x="609600" y="1885950"/>
            <a:chExt cx="9251632" cy="2417445"/>
          </a:xfrm>
        </p:grpSpPr>
        <p:sp>
          <p:nvSpPr>
            <p:cNvPr id="5" name="Rectangle 5"/>
            <p:cNvSpPr/>
            <p:nvPr/>
          </p:nvSpPr>
          <p:spPr>
            <a:xfrm>
              <a:off x="609600" y="2524125"/>
              <a:ext cx="2124075" cy="1257300"/>
            </a:xfrm>
            <a:prstGeom prst="roundRect">
              <a:avLst>
                <a:gd name="adj" fmla="val 606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1055" y="2705100"/>
              <a:ext cx="1316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SYSCLK / PLL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3435" y="3009900"/>
              <a:ext cx="17026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168 MHz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733675" y="3143250"/>
              <a:ext cx="94297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97505" y="2724150"/>
              <a:ext cx="66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AHB /1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762375" y="2524125"/>
              <a:ext cx="2219325" cy="1257300"/>
            </a:xfrm>
            <a:prstGeom prst="roundRect">
              <a:avLst>
                <a:gd name="adj" fmla="val 60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73830" y="2705100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HCLK / CPU · AHB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66210" y="3009900"/>
              <a:ext cx="17026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168 MHz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981700" y="31432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486525" y="2276475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486525" y="2276475"/>
              <a:ext cx="94297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6486525" y="3876675"/>
              <a:ext cx="94297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59880" y="188595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APB1 /4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9880" y="3505200"/>
              <a:ext cx="783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APB2 /2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66482" y="1983105"/>
              <a:ext cx="19821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PCLK1 42 MHz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69530" y="2409825"/>
              <a:ext cx="2076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APB1 定时器 → 84 MHz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66482" y="3583305"/>
              <a:ext cx="19821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PCLK2 84 MHz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69530" y="4010025"/>
              <a:ext cx="2191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APB2 定时器 → 168 MHz</a:t>
              </a:r>
            </a:p>
          </p:txBody>
        </p:sp>
      </p:grpSp>
      <p:grpSp>
        <p:nvGrpSpPr>
          <p:cNvPr id="27" name="divider-code"/>
          <p:cNvGrpSpPr/>
          <p:nvPr/>
        </p:nvGrpSpPr>
        <p:grpSpPr>
          <a:xfrm>
            <a:off x="609600" y="4572000"/>
            <a:ext cx="7115175" cy="1371600"/>
            <a:chOff x="609600" y="4572000"/>
            <a:chExt cx="7115175" cy="1371600"/>
          </a:xfrm>
        </p:grpSpPr>
        <p:sp>
          <p:nvSpPr>
            <p:cNvPr id="24" name="Rectangle 24"/>
            <p:cNvSpPr/>
            <p:nvPr/>
          </p:nvSpPr>
          <p:spPr>
            <a:xfrm>
              <a:off x="609600" y="4572000"/>
              <a:ext cx="7115175" cy="1371600"/>
            </a:xfrm>
            <a:prstGeom prst="roundRect">
              <a:avLst>
                <a:gd name="adj" fmla="val 55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2005" y="4743450"/>
              <a:ext cx="525399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RCC_ClkInitStruct.AHBCLKDivider = RCC_SYSCLK_DIV1;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RCC_ClkInitStruct.APB1CLKDivider = RCC_HCLK_DIV4;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RCC_ClkInitStruct.APB2CLKDivider = RCC_HCLK_DIV2;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3529" y="5671185"/>
              <a:ext cx="4859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原例程随后以 FLASH_LATENCY_5 调用 HAL_RCC_ClockConfig()。</a:t>
              </a:r>
            </a:p>
          </p:txBody>
        </p:sp>
      </p:grpSp>
      <p:grpSp>
        <p:nvGrpSpPr>
          <p:cNvPr id="30" name="timer-rule"/>
          <p:cNvGrpSpPr/>
          <p:nvPr/>
        </p:nvGrpSpPr>
        <p:grpSpPr>
          <a:xfrm>
            <a:off x="8096631" y="4682490"/>
            <a:ext cx="2550414" cy="1097280"/>
            <a:chOff x="8096631" y="4682490"/>
            <a:chExt cx="2550414" cy="1097280"/>
          </a:xfrm>
        </p:grpSpPr>
        <p:sp>
          <p:nvSpPr>
            <p:cNvPr id="28" name="TextBox 28"/>
            <p:cNvSpPr txBox="1"/>
            <p:nvPr/>
          </p:nvSpPr>
          <p:spPr>
            <a:xfrm>
              <a:off x="8096631" y="4682490"/>
              <a:ext cx="24933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F407 的 TIM 时钟规则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98155" y="5162550"/>
              <a:ext cx="254889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APB 分频 = 1：TIM = PCLK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APB 分频 ≠ 1：TIM = 2 × PCLK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299835"/>
              <a:ext cx="5608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main.c:150–155；原理：RM0090，STM32F405/407 RCC 时钟树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280660" cy="954405"/>
            <a:chOff x="594360" y="480060"/>
            <a:chExt cx="528066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698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获取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获取：频率与时间，是两个量</a:t>
              </a:r>
            </a:p>
          </p:txBody>
        </p:sp>
      </p:grpSp>
      <p:grpSp>
        <p:nvGrpSpPr>
          <p:cNvPr id="13" name="get-frequency"/>
          <p:cNvGrpSpPr/>
          <p:nvPr/>
        </p:nvGrpSpPr>
        <p:grpSpPr>
          <a:xfrm>
            <a:off x="598932" y="1849755"/>
            <a:ext cx="5935218" cy="3446145"/>
            <a:chOff x="598932" y="1849755"/>
            <a:chExt cx="5935218" cy="3446145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497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读时钟频率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866257" y="1849755"/>
              <a:ext cx="3411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Hz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295525"/>
              <a:ext cx="5924550" cy="9525"/>
            </a:xfrm>
            <a:custGeom>
              <a:avLst/>
              <a:gdLst/>
              <a:ahLst/>
              <a:cxnLst/>
              <a:rect l="l" t="t" r="r" b="b"/>
              <a:pathLst>
                <a:path w="5924550" h="9525">
                  <a:moveTo>
                    <a:pt x="0" y="0"/>
                  </a:moveTo>
                  <a:lnTo>
                    <a:pt x="5924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980" y="2581275"/>
              <a:ext cx="2634615" cy="1636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HAL_RCC_GetSysClockFreq()</a:t>
              </a:r>
              <a:br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HAL_RCC_GetHCLKFreq()</a:t>
              </a:r>
              <a:br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HAL_RCC_GetPCLK1Freq()</a:t>
              </a:r>
              <a:br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HAL_RCC_GetPCLK2Freq()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54855" y="2581275"/>
              <a:ext cx="1072515" cy="1636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168 000 000</a:t>
              </a:r>
              <a:br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168 000 000</a:t>
              </a:r>
              <a:br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42 000 000</a:t>
              </a:r>
              <a:br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84 000 000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4467225"/>
              <a:ext cx="5924550" cy="828675"/>
            </a:xfrm>
            <a:prstGeom prst="roundRect">
              <a:avLst>
                <a:gd name="adj" fmla="val 91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529" y="4613910"/>
              <a:ext cx="2879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标准库在 Usermain.c:48 读取整组频率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005" y="4933950"/>
              <a:ext cx="35360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RCC_GetClocksFreq(&amp;RCC_Clocks);</a:t>
              </a:r>
            </a:p>
          </p:txBody>
        </p:sp>
      </p:grpSp>
      <p:grpSp>
        <p:nvGrpSpPr>
          <p:cNvPr id="22" name="get-time"/>
          <p:cNvGrpSpPr/>
          <p:nvPr/>
        </p:nvGrpSpPr>
        <p:grpSpPr>
          <a:xfrm>
            <a:off x="6999732" y="1849755"/>
            <a:ext cx="4582668" cy="3446145"/>
            <a:chOff x="6999732" y="1849755"/>
            <a:chExt cx="4582668" cy="3446145"/>
          </a:xfrm>
        </p:grpSpPr>
        <p:sp>
          <p:nvSpPr>
            <p:cNvPr id="14" name="TextBox 14"/>
            <p:cNvSpPr txBox="1"/>
            <p:nvPr/>
          </p:nvSpPr>
          <p:spPr>
            <a:xfrm>
              <a:off x="6999732" y="18497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读累计时间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057382" y="1849755"/>
              <a:ext cx="3888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010400" y="229552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9732" y="2516505"/>
              <a:ext cx="20998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HAL_GetTick()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01256" y="2987040"/>
              <a:ext cx="2635758" cy="7235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返回时基计数 uwTick。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默认每次中断累计 1 ms。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10400" y="3838575"/>
              <a:ext cx="4572000" cy="1457325"/>
            </a:xfrm>
            <a:prstGeom prst="roundRect">
              <a:avLst>
                <a:gd name="adj" fmla="val 52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04329" y="398526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stm32f4xx_hal.c:323–326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02805" y="4276725"/>
              <a:ext cx="3472815" cy="1007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__weak uint32_t HAL_GetTick(void)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return uwTick;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software-record"/>
          <p:cNvGrpSpPr/>
          <p:nvPr/>
        </p:nvGrpSpPr>
        <p:grpSpPr>
          <a:xfrm>
            <a:off x="601980" y="5724525"/>
            <a:ext cx="10167638" cy="293370"/>
            <a:chOff x="601980" y="5724525"/>
            <a:chExt cx="10167638" cy="293370"/>
          </a:xfrm>
        </p:grpSpPr>
        <p:sp>
          <p:nvSpPr>
            <p:cNvPr id="23" name="TextBox 23"/>
            <p:cNvSpPr txBox="1"/>
            <p:nvPr/>
          </p:nvSpPr>
          <p:spPr>
            <a:xfrm>
              <a:off x="601980" y="5724525"/>
              <a:ext cx="10167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SystemCoreClock 记录 HCLK；SystemCoreClockUpdate() 根据寄存器更新这个变量，硬件时钟配置保持不变。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299835"/>
              <a:ext cx="5679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hal_rcc.c 的 Get…Freq()；hal.c:312–326；STD Usermain.c:48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345773" cy="954405"/>
            <a:chOff x="594360" y="480060"/>
            <a:chExt cx="5345773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2193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→ 04 / 设置滴答，准备应用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34577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设置 SysTick：一拍究竟多长</a:t>
              </a:r>
            </a:p>
          </p:txBody>
        </p:sp>
      </p:grpSp>
      <p:grpSp>
        <p:nvGrpSpPr>
          <p:cNvPr id="8" name="counter-principle"/>
          <p:cNvGrpSpPr/>
          <p:nvPr/>
        </p:nvGrpSpPr>
        <p:grpSpPr>
          <a:xfrm>
            <a:off x="598932" y="1802130"/>
            <a:ext cx="9521571" cy="848868"/>
            <a:chOff x="598932" y="1802130"/>
            <a:chExt cx="9521571" cy="84886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02130"/>
              <a:ext cx="61983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24 位递减计数器：装载 → 递减 → 到零中断 → 重装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2240280"/>
              <a:ext cx="40269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 = (LOAD + 1) / fSysTick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50405" y="2305050"/>
              <a:ext cx="3070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两份例程均通过 CMSIS 选择 HCLK</a:t>
              </a:r>
            </a:p>
          </p:txBody>
        </p:sp>
      </p:grpSp>
      <p:grpSp>
        <p:nvGrpSpPr>
          <p:cNvPr id="13" name="std-period"/>
          <p:cNvGrpSpPr/>
          <p:nvPr/>
        </p:nvGrpSpPr>
        <p:grpSpPr>
          <a:xfrm>
            <a:off x="590550" y="2876550"/>
            <a:ext cx="5210175" cy="1798320"/>
            <a:chOff x="590550" y="2876550"/>
            <a:chExt cx="5210175" cy="1798320"/>
          </a:xfrm>
        </p:grpSpPr>
        <p:sp>
          <p:nvSpPr>
            <p:cNvPr id="9" name="Line 9"/>
            <p:cNvSpPr/>
            <p:nvPr/>
          </p:nvSpPr>
          <p:spPr>
            <a:xfrm>
              <a:off x="609600" y="2876550"/>
              <a:ext cx="5191125" cy="9525"/>
            </a:xfrm>
            <a:custGeom>
              <a:avLst/>
              <a:gdLst/>
              <a:ahLst/>
              <a:cxnLst/>
              <a:rect l="l" t="t" r="r" b="b"/>
              <a:pathLst>
                <a:path w="5191125" h="9525">
                  <a:moveTo>
                    <a:pt x="0" y="0"/>
                  </a:moveTo>
                  <a:lnTo>
                    <a:pt x="5191125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0456" y="3101340"/>
              <a:ext cx="2319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标准库 · HCLK / 100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0550" y="3507105"/>
              <a:ext cx="125977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10</a:t>
              </a:r>
              <a:r>
                <a:rPr lang="en-US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 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980" y="4381500"/>
              <a:ext cx="3623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ticks = 1 680 000　 LOAD = 1 679 999</a:t>
              </a:r>
            </a:p>
          </p:txBody>
        </p:sp>
      </p:grpSp>
      <p:grpSp>
        <p:nvGrpSpPr>
          <p:cNvPr id="18" name="hal-period"/>
          <p:cNvGrpSpPr/>
          <p:nvPr/>
        </p:nvGrpSpPr>
        <p:grpSpPr>
          <a:xfrm>
            <a:off x="6372225" y="2876550"/>
            <a:ext cx="5210175" cy="1798320"/>
            <a:chOff x="6372225" y="2876550"/>
            <a:chExt cx="5210175" cy="1798320"/>
          </a:xfrm>
        </p:grpSpPr>
        <p:sp>
          <p:nvSpPr>
            <p:cNvPr id="14" name="Line 14"/>
            <p:cNvSpPr/>
            <p:nvPr/>
          </p:nvSpPr>
          <p:spPr>
            <a:xfrm>
              <a:off x="6391275" y="2876550"/>
              <a:ext cx="5191125" cy="9525"/>
            </a:xfrm>
            <a:custGeom>
              <a:avLst/>
              <a:gdLst/>
              <a:ahLst/>
              <a:cxnLst/>
              <a:rect l="l" t="t" r="r" b="b"/>
              <a:pathLst>
                <a:path w="5191125" h="9525">
                  <a:moveTo>
                    <a:pt x="0" y="0"/>
                  </a:moveTo>
                  <a:lnTo>
                    <a:pt x="51911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82131" y="3101340"/>
              <a:ext cx="27175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 默认 · HCLK / 1000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225" y="3507105"/>
              <a:ext cx="88216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</a:t>
              </a:r>
              <a:r>
                <a:rPr lang="en-US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 ms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3655" y="4381500"/>
              <a:ext cx="3270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ticks = 168 000　 LOAD = 167 999</a:t>
              </a:r>
            </a:p>
          </p:txBody>
        </p:sp>
      </p:grpSp>
      <p:grpSp>
        <p:nvGrpSpPr>
          <p:cNvPr id="22" name="systick-code"/>
          <p:cNvGrpSpPr/>
          <p:nvPr/>
        </p:nvGrpSpPr>
        <p:grpSpPr>
          <a:xfrm>
            <a:off x="609600" y="4905375"/>
            <a:ext cx="10972800" cy="1066800"/>
            <a:chOff x="609600" y="4905375"/>
            <a:chExt cx="10972800" cy="1066800"/>
          </a:xfrm>
        </p:grpSpPr>
        <p:sp>
          <p:nvSpPr>
            <p:cNvPr id="19" name="Rectangle 19"/>
            <p:cNvSpPr/>
            <p:nvPr/>
          </p:nvSpPr>
          <p:spPr>
            <a:xfrm>
              <a:off x="609600" y="4905375"/>
              <a:ext cx="10972800" cy="1066800"/>
            </a:xfrm>
            <a:prstGeom prst="roundRect">
              <a:avLst>
                <a:gd name="adj" fmla="val 71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1530" y="5057775"/>
              <a:ext cx="60921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SysTick_Config(RCC_Clocks.HCLK_Frequency / 100);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HAL_SYSTICK_Config(SystemCoreClock / (1000U / uwTickFreq))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054" y="5671185"/>
              <a:ext cx="760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原调用表达式；HAL 默认 uwTickFreq = 1。CMSIS 写入 LOAD = ticks − 1；改 HCLK 后需重新配置滴答。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299835"/>
              <a:ext cx="71448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源码：STD Usermain.c:49；HAL hal.c:256；CMSIS core_cm4.h:2022–2036；PM0214 SysTick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737354" cy="954405"/>
            <a:chOff x="594360" y="480060"/>
            <a:chExt cx="4737354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应用 · 标准库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73735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Delay：等一个倒计数归零</a:t>
              </a:r>
            </a:p>
          </p:txBody>
        </p:sp>
      </p:grpSp>
      <p:grpSp>
        <p:nvGrpSpPr>
          <p:cNvPr id="8" name="delay-code"/>
          <p:cNvGrpSpPr/>
          <p:nvPr/>
        </p:nvGrpSpPr>
        <p:grpSpPr>
          <a:xfrm>
            <a:off x="609600" y="1695450"/>
            <a:ext cx="6448425" cy="3590925"/>
            <a:chOff x="609600" y="1695450"/>
            <a:chExt cx="6448425" cy="3590925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6448425" cy="3590925"/>
            </a:xfrm>
            <a:prstGeom prst="roundRect">
              <a:avLst>
                <a:gd name="adj" fmla="val 21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3054" y="1870710"/>
              <a:ext cx="1524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Usermain.c:83–100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1530" y="2228850"/>
              <a:ext cx="3368040" cy="300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Delay(__IO uint32_t nTime)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uwTimingDelay = nTime;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(uwTimingDelay != 0);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  <a:p>
              <a:pPr algn="l">
                <a:lnSpc>
                  <a:spcPts val="1875"/>
                </a:lnSpc>
                <a:spcBef>
                  <a:spcPts val="750"/>
                </a:spcBef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TimingDelay_Decrement(void)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(uwTimingDelay != 0x00)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  uwTimingDelay--;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delay-flow"/>
          <p:cNvGrpSpPr/>
          <p:nvPr/>
        </p:nvGrpSpPr>
        <p:grpSpPr>
          <a:xfrm>
            <a:off x="7431405" y="1819275"/>
            <a:ext cx="3836670" cy="3429000"/>
            <a:chOff x="7431405" y="1819275"/>
            <a:chExt cx="3836670" cy="3429000"/>
          </a:xfrm>
        </p:grpSpPr>
        <p:sp>
          <p:nvSpPr>
            <p:cNvPr id="9" name="TextBox 9"/>
            <p:cNvSpPr txBox="1"/>
            <p:nvPr/>
          </p:nvSpPr>
          <p:spPr>
            <a:xfrm>
              <a:off x="7431405" y="1819275"/>
              <a:ext cx="1815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Delay(10) · 主循环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867650" y="2266950"/>
              <a:ext cx="2952750" cy="5334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28147" y="2438400"/>
              <a:ext cx="2031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uwTimingDelay = 10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344025" y="2800350"/>
              <a:ext cx="1" cy="4857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Freeform 13"/>
            <p:cNvSpPr/>
            <p:nvPr/>
          </p:nvSpPr>
          <p:spPr>
            <a:xfrm>
              <a:off x="8248650" y="3314700"/>
              <a:ext cx="2190750" cy="1028700"/>
            </a:xfrm>
            <a:prstGeom prst="flowChartDecision">
              <a:avLst/>
            </a:prstGeom>
            <a:solidFill>
              <a:srgbClr val="E8F4F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61870" y="3733800"/>
              <a:ext cx="964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计数 ≠ 0？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439400" y="38290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258550" y="3152775"/>
              <a:ext cx="9525" cy="676275"/>
            </a:xfrm>
            <a:custGeom>
              <a:avLst/>
              <a:gdLst/>
              <a:ahLst/>
              <a:cxnLst/>
              <a:rect l="l" t="t" r="r" b="b"/>
              <a:pathLst>
                <a:path w="9525" h="676275">
                  <a:moveTo>
                    <a:pt x="0" y="6762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344025" y="3152775"/>
              <a:ext cx="1914525" cy="9525"/>
            </a:xfrm>
            <a:custGeom>
              <a:avLst/>
              <a:gdLst/>
              <a:ahLst/>
              <a:cxnLst/>
              <a:rect l="l" t="t" r="r" b="b"/>
              <a:pathLst>
                <a:path w="1914525" h="9525">
                  <a:moveTo>
                    <a:pt x="19145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99904" y="291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是：继续检查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344025" y="4343400"/>
              <a:ext cx="1" cy="4095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09379" y="4480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48650" y="4781550"/>
              <a:ext cx="2190750" cy="466725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31580" y="4924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返回主循环</a:t>
              </a:r>
            </a:p>
          </p:txBody>
        </p:sp>
      </p:grpSp>
      <p:grpSp>
        <p:nvGrpSpPr>
          <p:cNvPr id="26" name="interrupt"/>
          <p:cNvGrpSpPr/>
          <p:nvPr/>
        </p:nvGrpSpPr>
        <p:grpSpPr>
          <a:xfrm>
            <a:off x="601980" y="5543550"/>
            <a:ext cx="7191974" cy="588645"/>
            <a:chOff x="601980" y="5543550"/>
            <a:chExt cx="7191974" cy="588645"/>
          </a:xfrm>
        </p:grpSpPr>
        <p:sp>
          <p:nvSpPr>
            <p:cNvPr id="24" name="TextBox 24"/>
            <p:cNvSpPr txBox="1"/>
            <p:nvPr/>
          </p:nvSpPr>
          <p:spPr>
            <a:xfrm>
              <a:off x="601980" y="5543550"/>
              <a:ext cx="6988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 10 ms：SysTick_Handler() → TimingDelay_Decrement() → 非零计数减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980" y="5838825"/>
              <a:ext cx="71919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Delay(10) ≈ 100 ms　 ·　 Delay(1) ≈ 10 ms　 ·　 参数表示当前时基的滴答数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299835"/>
              <a:ext cx="5394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源码：STD Usermain.c:20、49–53、83–100；stm32f4xx_it.c:142–145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310816" cy="954405"/>
            <a:chOff x="594360" y="480060"/>
            <a:chExt cx="5310816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176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应用 · HAL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3108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HAL_Delay：等累计时间走够</a:t>
              </a:r>
            </a:p>
          </p:txBody>
        </p:sp>
      </p:grpSp>
      <p:grpSp>
        <p:nvGrpSpPr>
          <p:cNvPr id="9" name="hal-delay-source"/>
          <p:cNvGrpSpPr/>
          <p:nvPr/>
        </p:nvGrpSpPr>
        <p:grpSpPr>
          <a:xfrm>
            <a:off x="609600" y="1695450"/>
            <a:ext cx="6915150" cy="4305300"/>
            <a:chOff x="609600" y="1695450"/>
            <a:chExt cx="6915150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6915150" cy="4305300"/>
            </a:xfrm>
            <a:prstGeom prst="roundRect">
              <a:avLst>
                <a:gd name="adj" fmla="val 177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3054" y="1861185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stm32f4xx_hal.c:389–403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11530" y="2219325"/>
              <a:ext cx="4520565" cy="31222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__weak void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HAL_Delay(uint32_t Delay)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uint32_t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tickstart = HAL_GetTick();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uint32_t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wait = Delay;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 (wait &lt; HAL_MAX_DELAY)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{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  wait += (uint32_t)(uwTickFreq);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((HAL_GetTick() - tickstart) &lt; wait)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{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3054" y="565213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默认多等待一个滴答，保证实际等待不少于请求时长。</a:t>
              </a:r>
            </a:p>
          </p:txBody>
        </p:sp>
      </p:grpSp>
      <p:grpSp>
        <p:nvGrpSpPr>
          <p:cNvPr id="17" name="hal-delay-mechanism"/>
          <p:cNvGrpSpPr/>
          <p:nvPr/>
        </p:nvGrpSpPr>
        <p:grpSpPr>
          <a:xfrm>
            <a:off x="7886700" y="1828800"/>
            <a:ext cx="3695700" cy="4198620"/>
            <a:chOff x="7886700" y="1828800"/>
            <a:chExt cx="3695700" cy="4198620"/>
          </a:xfrm>
        </p:grpSpPr>
        <p:sp>
          <p:nvSpPr>
            <p:cNvPr id="10" name="TextBox 10"/>
            <p:cNvSpPr txBox="1"/>
            <p:nvPr/>
          </p:nvSpPr>
          <p:spPr>
            <a:xfrm>
              <a:off x="7898130" y="1828800"/>
              <a:ext cx="1676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HAL_Delay(1000)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86700" y="2125980"/>
              <a:ext cx="141930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</a:t>
              </a:r>
              <a:r>
                <a:rPr lang="zh-CN" sz="21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 xml:space="preserve"> 秒左右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98130" y="2971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参数单位：毫秒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905750" y="3371850"/>
              <a:ext cx="3676650" cy="9525"/>
            </a:xfrm>
            <a:custGeom>
              <a:avLst/>
              <a:gdLst/>
              <a:ahLst/>
              <a:cxnLst/>
              <a:rect l="l" t="t" r="r" b="b"/>
              <a:pathLst>
                <a:path w="3676650" h="9525">
                  <a:moveTo>
                    <a:pt x="0" y="0"/>
                  </a:moveTo>
                  <a:lnTo>
                    <a:pt x="3676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98130" y="3600450"/>
              <a:ext cx="2406015" cy="1550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HAL_InitTick：配置时基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HAL_IncTick：累计时间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HAL_GetTick：读取毫秒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HAL_Delay：比较经过时间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905750" y="5267325"/>
              <a:ext cx="3676650" cy="9525"/>
            </a:xfrm>
            <a:custGeom>
              <a:avLst/>
              <a:gdLst/>
              <a:ahLst/>
              <a:cxnLst/>
              <a:rect l="l" t="t" r="r" b="b"/>
              <a:pathLst>
                <a:path w="3676650" h="9525">
                  <a:moveTo>
                    <a:pt x="0" y="0"/>
                  </a:moveTo>
                  <a:lnTo>
                    <a:pt x="3676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8130" y="5438775"/>
              <a:ext cx="27679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SysTick_Handler → HAL_IncTick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经过时间 ≥ wait 时返回。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299835"/>
              <a:ext cx="58854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源码：HAL main.c:100；hal.c:312–326、389–403；stm32f4xx_it.c:184–190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5684520" cy="954405"/>
            <a:chOff x="594360" y="480060"/>
            <a:chExt cx="568452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1692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应用 · 观察原例程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应用：一段延时，怎样变成闪烁</a:t>
              </a:r>
            </a:p>
          </p:txBody>
        </p:sp>
      </p:grpSp>
      <p:grpSp>
        <p:nvGrpSpPr>
          <p:cNvPr id="11" name="std-led"/>
          <p:cNvGrpSpPr/>
          <p:nvPr/>
        </p:nvGrpSpPr>
        <p:grpSpPr>
          <a:xfrm>
            <a:off x="598932" y="1802130"/>
            <a:ext cx="5268468" cy="3463290"/>
            <a:chOff x="598932" y="1802130"/>
            <a:chExt cx="5268468" cy="346329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802130"/>
              <a:ext cx="32483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标准库 · 每 5 次循环翻转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305050"/>
              <a:ext cx="5257800" cy="1571625"/>
            </a:xfrm>
            <a:prstGeom prst="roundRect">
              <a:avLst>
                <a:gd name="adj" fmla="val 48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2005" y="2486025"/>
              <a:ext cx="368236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Delay(10);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if(Index%5==0)</a:t>
              </a:r>
              <a:br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 xml:space="preserve">  GPIO_ToggleBits(GPIOE, LED2_Pin);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3529" y="3547110"/>
              <a:ext cx="3345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Usermain.c:62–65；Index 在循环末尾递增。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4145280"/>
              <a:ext cx="2441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翻转间隔 ≈ </a:t>
              </a:r>
              <a:r>
                <a:rPr lang="en-US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500 ms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4667250"/>
              <a:ext cx="30060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流水灯约每 100 ms 移到下一位。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稳定运行后，完整亮灭周期约 1 s。</a:t>
              </a:r>
            </a:p>
          </p:txBody>
        </p:sp>
      </p:grpSp>
      <p:grpSp>
        <p:nvGrpSpPr>
          <p:cNvPr id="19" name="hal-led"/>
          <p:cNvGrpSpPr/>
          <p:nvPr/>
        </p:nvGrpSpPr>
        <p:grpSpPr>
          <a:xfrm>
            <a:off x="6313932" y="1802130"/>
            <a:ext cx="5268468" cy="3463290"/>
            <a:chOff x="6313932" y="1802130"/>
            <a:chExt cx="5268468" cy="3463290"/>
          </a:xfrm>
        </p:grpSpPr>
        <p:sp>
          <p:nvSpPr>
            <p:cNvPr id="12" name="TextBox 12"/>
            <p:cNvSpPr txBox="1"/>
            <p:nvPr/>
          </p:nvSpPr>
          <p:spPr>
            <a:xfrm>
              <a:off x="6313932" y="1802130"/>
              <a:ext cx="2595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 · 每次循环翻转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324600" y="2305050"/>
              <a:ext cx="5257800" cy="1571625"/>
            </a:xfrm>
            <a:prstGeom prst="roundRect">
              <a:avLst>
                <a:gd name="adj" fmla="val 48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17005" y="2486025"/>
              <a:ext cx="1956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HAL_Delay (1000);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17005" y="3095625"/>
              <a:ext cx="4164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5F6F2"/>
                  </a:solidFill>
                  <a:latin typeface="Consolas"/>
                  <a:ea typeface="Consolas"/>
                  <a:cs typeface="Consolas"/>
                </a:rPr>
                <a:t>HAL_GPIO_TogglePin(GPIOE, LED2_Pin);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8529" y="3547110"/>
              <a:ext cx="1248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main.c:100–102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4145280"/>
              <a:ext cx="18928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翻转间隔 ≈ </a:t>
              </a:r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 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4667250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流水灯约每 1 s 移到下一位。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完整亮灭周期约 2 s。</a:t>
              </a:r>
            </a:p>
          </p:txBody>
        </p:sp>
      </p:grpSp>
      <p:grpSp>
        <p:nvGrpSpPr>
          <p:cNvPr id="22" name="application-takeaway"/>
          <p:cNvGrpSpPr/>
          <p:nvPr/>
        </p:nvGrpSpPr>
        <p:grpSpPr>
          <a:xfrm>
            <a:off x="609600" y="5476875"/>
            <a:ext cx="10972800" cy="561975"/>
            <a:chOff x="609600" y="5476875"/>
            <a:chExt cx="10972800" cy="561975"/>
          </a:xfrm>
        </p:grpSpPr>
        <p:sp>
          <p:nvSpPr>
            <p:cNvPr id="20" name="Rectangle 20"/>
            <p:cNvSpPr/>
            <p:nvPr/>
          </p:nvSpPr>
          <p:spPr>
            <a:xfrm>
              <a:off x="609600" y="5476875"/>
              <a:ext cx="10972800" cy="5619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2005" y="5676900"/>
              <a:ext cx="9493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一次翻转只完成半个亮灭周期。精确定时用 TIM / PWM；主循环兼顾多项任务时，用 tick 差值安排动作。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299835"/>
              <a:ext cx="4074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源码：STD Usermain.c:60–74；HAL main.c:94–110。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80060"/>
            <a:ext cx="4472940" cy="954405"/>
            <a:chOff x="594360" y="480060"/>
            <a:chExt cx="4472940" cy="95440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80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原理与应用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47725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把时钟放回各自的任务里</a:t>
              </a:r>
            </a:p>
          </p:txBody>
        </p:sp>
      </p:grpSp>
      <p:grpSp>
        <p:nvGrpSpPr>
          <p:cNvPr id="8" name="sources"/>
          <p:cNvGrpSpPr/>
          <p:nvPr/>
        </p:nvGrpSpPr>
        <p:grpSpPr>
          <a:xfrm>
            <a:off x="598932" y="1783080"/>
            <a:ext cx="5116068" cy="1558290"/>
            <a:chOff x="598932" y="1783080"/>
            <a:chExt cx="5116068" cy="1558290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783080"/>
              <a:ext cx="1763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高速源与 PLL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2002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1980" y="2400300"/>
              <a:ext cx="375856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HSI：内部 16 MHz RC，可用于启动与后备。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HSE：外部晶振，提供主时钟参考。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PLL：对参考时钟分频、倍频，再分配输出。</a:t>
              </a:r>
            </a:p>
          </p:txBody>
        </p:sp>
      </p:grpSp>
      <p:grpSp>
        <p:nvGrpSpPr>
          <p:cNvPr id="12" name="bus-roles"/>
          <p:cNvGrpSpPr/>
          <p:nvPr/>
        </p:nvGrpSpPr>
        <p:grpSpPr>
          <a:xfrm>
            <a:off x="6313932" y="1783080"/>
            <a:ext cx="5268468" cy="1558290"/>
            <a:chOff x="6313932" y="1783080"/>
            <a:chExt cx="5268468" cy="1558290"/>
          </a:xfrm>
        </p:grpSpPr>
        <p:sp>
          <p:nvSpPr>
            <p:cNvPr id="9" name="TextBox 9"/>
            <p:cNvSpPr txBox="1"/>
            <p:nvPr/>
          </p:nvSpPr>
          <p:spPr>
            <a:xfrm>
              <a:off x="6313932" y="178308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系统与总线时钟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324600" y="2200275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16980" y="2400300"/>
              <a:ext cx="2987040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SYSCLK：选定的系统时钟源输出。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HCLK：CPU、AHB 总线的节拍。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PCLK1 / PCLK2：APB 外设的节拍。</a:t>
              </a:r>
            </a:p>
          </p:txBody>
        </p:sp>
      </p:grpSp>
      <p:grpSp>
        <p:nvGrpSpPr>
          <p:cNvPr id="15" name="low-speed"/>
          <p:cNvGrpSpPr/>
          <p:nvPr/>
        </p:nvGrpSpPr>
        <p:grpSpPr>
          <a:xfrm>
            <a:off x="598932" y="3707130"/>
            <a:ext cx="3780663" cy="1129665"/>
            <a:chOff x="598932" y="3707130"/>
            <a:chExt cx="3780663" cy="1129665"/>
          </a:xfrm>
        </p:grpSpPr>
        <p:sp>
          <p:nvSpPr>
            <p:cNvPr id="13" name="TextBox 13"/>
            <p:cNvSpPr txBox="1"/>
            <p:nvPr/>
          </p:nvSpPr>
          <p:spPr>
            <a:xfrm>
              <a:off x="598932" y="37071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低速时钟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219575"/>
              <a:ext cx="377761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LSE：外部 32.768 kHz，适合 RTC 走时。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LSI：内部约 32 kHz，供独立看门狗等使用。</a:t>
              </a:r>
            </a:p>
          </p:txBody>
        </p:sp>
      </p:grpSp>
      <p:grpSp>
        <p:nvGrpSpPr>
          <p:cNvPr id="18" name="timebase"/>
          <p:cNvGrpSpPr/>
          <p:nvPr/>
        </p:nvGrpSpPr>
        <p:grpSpPr>
          <a:xfrm>
            <a:off x="6313932" y="3707130"/>
            <a:ext cx="3980688" cy="1129665"/>
            <a:chOff x="6313932" y="3707130"/>
            <a:chExt cx="3980688" cy="1129665"/>
          </a:xfrm>
        </p:grpSpPr>
        <p:sp>
          <p:nvSpPr>
            <p:cNvPr id="16" name="TextBox 16"/>
            <p:cNvSpPr txBox="1"/>
            <p:nvPr/>
          </p:nvSpPr>
          <p:spPr>
            <a:xfrm>
              <a:off x="6313932" y="37071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软件计时与硬件定时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6980" y="4219575"/>
              <a:ext cx="39776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SysTick：软件时基、超时判断、短时等待。</a:t>
              </a:r>
              <a:br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TIM / PWM：周期中断、精确定时与波形输出。</a:t>
              </a:r>
            </a:p>
          </p:txBody>
        </p:sp>
      </p:grpSp>
      <p:grpSp>
        <p:nvGrpSpPr>
          <p:cNvPr id="23" name="peripheral-gate"/>
          <p:cNvGrpSpPr/>
          <p:nvPr/>
        </p:nvGrpSpPr>
        <p:grpSpPr>
          <a:xfrm>
            <a:off x="609600" y="5219700"/>
            <a:ext cx="10972800" cy="809625"/>
            <a:chOff x="609600" y="5219700"/>
            <a:chExt cx="10972800" cy="809625"/>
          </a:xfrm>
        </p:grpSpPr>
        <p:sp>
          <p:nvSpPr>
            <p:cNvPr id="19" name="Rectangle 19"/>
            <p:cNvSpPr/>
            <p:nvPr/>
          </p:nvSpPr>
          <p:spPr>
            <a:xfrm>
              <a:off x="609600" y="5219700"/>
              <a:ext cx="10972800" cy="809625"/>
            </a:xfrm>
            <a:prstGeom prst="roundRect">
              <a:avLst>
                <a:gd name="adj" fmla="val 941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1530" y="5381625"/>
              <a:ext cx="3418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73D5D4"/>
                  </a:solidFill>
                  <a:latin typeface="Consolas"/>
                  <a:ea typeface="Consolas"/>
                  <a:cs typeface="Consolas"/>
                </a:rPr>
                <a:t>__HAL_RCC_GPIOE_CLK_ENABLE();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45355" y="53816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使用外设前，先打开对应的时钟门控。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054" y="5728335"/>
              <a:ext cx="3865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gpio.c:48 · 未使用的外设可关闭时钟，以降低功耗。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299835"/>
            <a:ext cx="10984992" cy="234696"/>
            <a:chOff x="603504" y="629983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299835"/>
              <a:ext cx="609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依据：RM0090，STM32F405/407 RCC、RTC、TIM；PM0214 SysTick；HAL gpio.c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35132" y="6299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4360" y="680085"/>
            <a:ext cx="6088380" cy="1439799"/>
            <a:chOff x="594360" y="680085"/>
            <a:chExt cx="6088380" cy="1439799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680085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时钟之迹 / 回到代码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118110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从初始化到应用，线索已经连起来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0456" y="1767840"/>
              <a:ext cx="4823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看懂一个 Delay，需要把整条时钟链连起来。</a:t>
              </a:r>
            </a:p>
          </p:txBody>
        </p:sp>
      </p:grpSp>
      <p:grpSp>
        <p:nvGrpSpPr>
          <p:cNvPr id="19" name="recap"/>
          <p:cNvGrpSpPr/>
          <p:nvPr/>
        </p:nvGrpSpPr>
        <p:grpSpPr>
          <a:xfrm>
            <a:off x="598932" y="2647950"/>
            <a:ext cx="10983468" cy="1598295"/>
            <a:chOff x="598932" y="2647950"/>
            <a:chExt cx="10983468" cy="1598295"/>
          </a:xfrm>
        </p:grpSpPr>
        <p:sp>
          <p:nvSpPr>
            <p:cNvPr id="6" name="Line 6"/>
            <p:cNvSpPr/>
            <p:nvPr/>
          </p:nvSpPr>
          <p:spPr>
            <a:xfrm>
              <a:off x="609600" y="27336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61747B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95325" y="2647950"/>
              <a:ext cx="171450" cy="171450"/>
            </a:xfrm>
            <a:prstGeom prst="ellipse">
              <a:avLst/>
            </a:prstGeom>
            <a:solidFill>
              <a:srgbClr val="73D5D4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505200" y="2647950"/>
              <a:ext cx="171450" cy="171450"/>
            </a:xfrm>
            <a:prstGeom prst="ellipse">
              <a:avLst/>
            </a:prstGeom>
            <a:solidFill>
              <a:srgbClr val="73D5D4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343650" y="2647950"/>
              <a:ext cx="171450" cy="171450"/>
            </a:xfrm>
            <a:prstGeom prst="ellipse">
              <a:avLst/>
            </a:prstGeom>
            <a:solidFill>
              <a:srgbClr val="73D5D4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201150" y="2647950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8932" y="309753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08807" y="309753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设置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7257" y="309753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获取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04757" y="309753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3638550"/>
              <a:ext cx="196786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先追入口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SystemInit / HAL_Init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11855" y="3638550"/>
              <a:ext cx="183451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再算频率与周期</a:t>
              </a:r>
              <a:br/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PLL / 总线 / SysTick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50305" y="3638550"/>
              <a:ext cx="175831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随后读配置与计数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Get…Freq / GetTick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07805" y="3638550"/>
              <a:ext cx="1605915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最后看动作</a:t>
              </a:r>
              <a:br/>
              <a:r>
                <a:rPr lang="en-US" sz="15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Delay / HAL_Delay</a:t>
              </a:r>
            </a:p>
          </p:txBody>
        </p:sp>
      </p:grpSp>
      <p:grpSp>
        <p:nvGrpSpPr>
          <p:cNvPr id="21" name="final-rule"/>
          <p:cNvGrpSpPr/>
          <p:nvPr/>
        </p:nvGrpSpPr>
        <p:grpSpPr>
          <a:xfrm>
            <a:off x="598932" y="4802505"/>
            <a:ext cx="8804847" cy="410718"/>
            <a:chOff x="598932" y="4802505"/>
            <a:chExt cx="8804847" cy="410718"/>
          </a:xfrm>
        </p:grpSpPr>
        <p:sp>
          <p:nvSpPr>
            <p:cNvPr id="20" name="TextBox 20"/>
            <p:cNvSpPr txBox="1"/>
            <p:nvPr/>
          </p:nvSpPr>
          <p:spPr>
            <a:xfrm>
              <a:off x="598932" y="4802505"/>
              <a:ext cx="8804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标准库一拍 </a:t>
              </a:r>
              <a:r>
                <a:rPr lang="en-US" sz="2100" b="1" dirty="0">
                  <a:solidFill>
                    <a:srgbClr val="F3AD80"/>
                  </a:solidFill>
                  <a:latin typeface="+mn-lt"/>
                  <a:ea typeface="+mn-ea"/>
                  <a:cs typeface="+mn-cs"/>
                </a:rPr>
                <a:t>10 ms</a:t>
              </a:r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　 ·　 HAL 一拍 </a:t>
              </a:r>
              <a:r>
                <a:rPr lang="en-US" sz="2100" b="1" dirty="0">
                  <a:solidFill>
                    <a:srgbClr val="73D5D4"/>
                  </a:solidFill>
                  <a:latin typeface="+mn-lt"/>
                  <a:ea typeface="+mn-ea"/>
                  <a:cs typeface="+mn-cs"/>
                </a:rPr>
                <a:t>1 ms</a:t>
              </a:r>
              <a:r>
                <a:rPr lang="zh-CN" sz="2100" dirty="0">
                  <a:solidFill>
                    <a:srgbClr val="F5F6F2"/>
                  </a:solidFill>
                  <a:latin typeface="+mn-lt"/>
                  <a:ea typeface="+mn-ea"/>
                  <a:cs typeface="+mn-cs"/>
                </a:rPr>
                <a:t xml:space="preserve">　 ·　 调用之前，先确认单位</a:t>
              </a:r>
            </a:p>
          </p:txBody>
        </p:sp>
      </p:grpSp>
      <p:grpSp>
        <p:nvGrpSpPr>
          <p:cNvPr id="24" name="references"/>
          <p:cNvGrpSpPr/>
          <p:nvPr/>
        </p:nvGrpSpPr>
        <p:grpSpPr>
          <a:xfrm>
            <a:off x="603504" y="5591175"/>
            <a:ext cx="10978896" cy="676656"/>
            <a:chOff x="603504" y="5591175"/>
            <a:chExt cx="10978896" cy="676656"/>
          </a:xfrm>
        </p:grpSpPr>
        <p:sp>
          <p:nvSpPr>
            <p:cNvPr id="22" name="Line 22"/>
            <p:cNvSpPr/>
            <p:nvPr/>
          </p:nvSpPr>
          <p:spPr>
            <a:xfrm>
              <a:off x="609600" y="5591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61747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504" y="5756910"/>
              <a:ext cx="6237732" cy="5109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代码：教师例程 CH5EX01HAL、CH5Ex01STD（主程序、RCC/HAL驱动、中断与CMSIS文件）。</a:t>
              </a:r>
              <a:br/>
              <a:r>
                <a:rPr lang="zh-CN" sz="1200" dirty="0">
                  <a:solidFill>
                    <a:srgbClr val="AABDBF"/>
                  </a:solidFill>
                  <a:latin typeface="+mn-lt"/>
                  <a:ea typeface="+mn-ea"/>
                  <a:cs typeface="+mn-cs"/>
                </a:rPr>
                <a:t>手册：ST RM0090 · STM32F405/407 RCC 章节；ST PM0214 · Cortex-M4 SysTick 章节。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035132" y="65189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AABDBF"/>
                </a:solidFill>
                <a:latin typeface="+mn-lt"/>
                <a:ea typeface="+mn-ea"/>
                <a:cs typeface="+mn-c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ck_traces">
  <a:themeElements>
    <a:clrScheme name="clock_traces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clock_trace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ock_trac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lock_traces">
  <a:themeElements>
    <a:clrScheme name="clock_traces">
      <a:dk1>
        <a:srgbClr val="1D3440"/>
      </a:dk1>
      <a:lt1>
        <a:srgbClr val="F5F6F2"/>
      </a:lt1>
      <a:dk2>
        <a:srgbClr val="1F497D"/>
      </a:dk2>
      <a:lt2>
        <a:srgbClr val="E8EEEB"/>
      </a:lt2>
      <a:accent1>
        <a:srgbClr val="132E3B"/>
      </a:accent1>
      <a:accent2>
        <a:srgbClr val="167D8D"/>
      </a:accent2>
      <a:accent3>
        <a:srgbClr val="D66A35"/>
      </a:accent3>
      <a:accent4>
        <a:srgbClr val="132E3B"/>
      </a:accent4>
      <a:accent5>
        <a:srgbClr val="61747B"/>
      </a:accent5>
      <a:accent6>
        <a:srgbClr val="C9D5D2"/>
      </a:accent6>
      <a:hlink>
        <a:srgbClr val="167D8D"/>
      </a:hlink>
      <a:folHlink>
        <a:srgbClr val="D66A35"/>
      </a:folHlink>
    </a:clrScheme>
    <a:fontScheme name="clock_trace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ock_trac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2026-10-06T08:04:45Z</dcterms:created>
  <dcterms:modified xsi:type="dcterms:W3CDTF">2026-10-06T08:04:45Z</dcterms:modified>
  <cp:category/>
  <cp:contentStatus/>
</cp:coreProperties>
</file>