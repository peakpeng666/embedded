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本次讨论以STM32F407为例，沿初始化、设置、获取、应用四个阶段分析时钟配置与软件延时。代码来自老师提供的CH5EX01HAL和CH5Ex01STD。重点是三层关系：PLL如何产生168 MHz系统时钟，总线与SysTick如何分配和计数，以及两种延时函数如何决定LED输出时序。封面右侧的 1 ms 指 HAL 时基周期，由 HAL_InitTick 配置 SysTick 产生；SysTick 外设复位后不运行，1 ms 是软件的选择。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初始化阶段建立复位后的运行环境，关注SystemInit与HAL_Init。设置阶段配置PLL、总线分频和SysTick周期。获取阶段分别读取时钟频率和累计毫秒数。应用阶段则利用这些计数执行延时和安排任务时序。两份工程的HSE参数不同：HAL按板上的8 MHz晶振配置，标准库模板按25 MHz晶振假设配置，经过各自的PLL参数后，都按168 MHz设计；标准库在8 MHz晶振板上原样运行的实际主频只有53.76 MHz，第4页展开。后面按这四个阶段对照实际代码。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启动文件先调用SystemInit，再进入C运行时初始化，最后执行main。标准库在SystemInit内调用SetSysClock，因此进入main前已完成主时钟配置。HAL工程在main中依次调用HAL_Init、SystemClock_Config和MX_GPIO_Init。这个顺序有明确依赖：HAL_Init先在复位后的HSI 16 MHz下建立1 ms时基，后续HSE就绪检测、PLL锁定等待中的超时判断都使用HAL_GetTick。切换到168 MHz后，HAL_RCC_ClockConfig更新SystemCoreClock，并再次调用HAL_InitTick，使时基继续保持1 ms。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HAL工程以8 MHz HSE为输入，除以M等于8，得到1 MHz；乘以N等于336，得到336 MHz VCO；再除以P等于2，得到168 MHz系统时钟。标准库使用25 MHz输入与M等于25，计算结果相同。Q控制另一条输出：原HAL代码Q等于4，得到84 MHz。DS8626 Rev 12表36规定PLL48输出最大为75 MHz，因此该参数组合超出数据手册给定范围。对于这里336 MHz的VCO，取Q等于7即可得到48 MHz，也满足USB全速时钟频率要求。标准库原例程的Q值就是7。标准库的主频假设还要单独看：模板把PLL_M写成25，对应25 MHz晶振；普中T100板的晶振是8 MHz，原样运行时实际SYSCLK为8除以25乘336除2，即53.76 MHz，SystemCoreClock仍按168 MHz报告，需要把M改成8。84 MHz只涉及PLL48CK：参考手册规定该输出来自PLL48CLK，服务USB OTG FS、SDIO和RNG，本例程都未启用，所以越限不构成功能问题，配置仍应按数据手册取Q等于7。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168 MHz系统时钟经AHB除以1，HCLK仍为168 MHz；APB1除以4得到42 MHz，APB2除以2得到84 MHz。F407的定时器时钟需要单独计算：APB分频等于1时，TIM时钟等于PCLK；分频大于1时，TIM时钟等于2倍PCLK。因此本例APB1定时器为84 MHz，APB2定时器为168 MHz。Flash访问也受频率与供电电压约束。RM0090 Rev22表11规定，在2.7至3.6 V、168 MHz条件下，应配置5个等待周期。Flash读取时间与CPU周期不同，等待周期保证访问时序，预取和ART加速器用于减轻取指等待。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获取函数读取的对象不同。HAL_RCC_GetSysClockFreq根据RCC寄存器和HSE_VALUE等时钟源参数计算SYSCLK。HAL_RCC_GetHCLKFreq直接返回软件变量SystemCoreClock；PCLK获取函数再按APB分频计算频率。SystemCoreClockUpdate只刷新这份HCLK记录，不会重新配置硬件时钟。标准库通过RCC_GetClocksFreq获得一组频率数据。HAL_GetTick读取的则是中断维护的uwTick，单位为毫秒。频率计算结果与累计时间属于不同的数据，使用时应区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SysTick是24位递减计数器，计数到零产生事件，随后自动重装。周期满足T等于LOAD加1，再除以SysTick计数时钟频率。两份例程调用的CMSIS函数均选择HCLK。标准库将168 MHz除以100，形成10 ms时基，LOAD为1679999。HAL默认将168 MHz除以1000，形成1 ms时基，LOAD为167999。HAL表达式中的uwTickFreq默认值为1。更改HCLK后，必须相应更新重装值，才能维持原定时基周期。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标准库Delay采用递减计数。主程序先将参数写入uwTimingDelay，再循环检查它是否为零。SysTick每10 ms进入中断，通过TimingDelay_Decrement将非零计数减1；归零后Delay返回。原文件中的共享变量使用__IO，也就是volatile限定，要求编译器保留对这个对象的实际访问，使主程序能够观察到中断对计数的修改。Delay阻塞主程序的后续执行，但中断仍可执行。这里一个参数单位对应10 ms，所以Delay(10)约为100 ms，Delay(1)约为10 ms。以上时间都按SystemCoreClock等于168 MHz计算；标准库模板假设25 MHz晶振，板上焊接8 MHz晶振时实际主频53.76 MHz，列出时间均变为约3.1倍。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AL_Delay采用累计时间差判断。函数先读取HAL_GetTick记录起点，再将请求时长保存为wait。它额外增加一个时基周期，是为了补偿调用起点接近当前节拍末尾时可能出现的欠时等待。随后while循环不断比较当前计数减去起点的结果，达到wait后才返回。所以这个函数仍是阻塞式等待，差值算法本身不意味着非阻塞。时基配置、累计、读取、使用，分别对应HAL_InitTick、HAL_IncTick、HAL_GetTick和HAL_Delay。原main中的HAL_Delay(1000)约等待1 s。右侧流程图概括全过程：进入函数先读tickstart并算出wait，再循环比较经过时间与wait，未达到继续轮询，达到后返回主循环；轮询期间的节拍来自SysTick中断中的HAL_IncTick，周期由HAL_InitTick配置为1 ms。若要使用非阻塞调度，应把时间差判断放回主循环，在尚未到期时继续处理其他工作。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标准库每轮Delay(10)，流水灯约每100 ms移位。Index对5取模为零时翻转LED，因此普通区间内翻转间隔约500 ms，完整亮灭周期约1 s。这里还有一个边界：Index是16位无符号变量。65535对5取模为零，执行一次翻转；随后Index递增回卷到0，下一轮条件又成立。因此回卷前后两次翻转只间隔一轮，也就是约100 ms。改为0到4的周期计数，或直接依据经过时间判断，可以保持一致的触发间隔。HAL例程每轮等待约1 s并翻转一次，完整亮灭周期约2 s。精确周期波形可以交给TIM或PWM。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高速时钟部分，HSI是内部16 MHz RC，HSE提供外部晶振参考，PLL负责频率合成。系统选择出的SYSCLK经AHB、APB分频，形成CPU、总线和外设各自的时钟。低速部分，外部32.768 kHz的LSE适合RTC走时，内部约32 kHz的LSI供独立看门狗等使用。SysTick主要提供软件时基，TIM和PWM用于周期中断与定时波形。外设时钟还需要门控使能，页面底部是原GPIO初始化文件中使能GPIOE的语句。未使用的外设可以关闭时钟，减少动态功耗。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阶段构成完整的分析路径：初始化确认启动顺序，设置阶段确定主频、总线与时基周期，获取阶段区分寄存器计算结果、软件频率记录和累计时间，应用阶段再分析等待条件与输出时序。这两份例程的SysTick周期分别为10 ms和1 ms，两种延时函数都采用阻塞等待。把时钟树、计数方式与主循环条件结合起来，就能解释正常输出周期，也能定位参数越界和计数回卷造成的变化。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制作源文件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制作源文件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urse"/>
          <p:cNvGrpSpPr/>
          <p:nvPr/>
        </p:nvGrpSpPr>
        <p:grpSpPr>
          <a:xfrm>
            <a:off x="601980" y="571500"/>
            <a:ext cx="10980420" cy="447675"/>
            <a:chOff x="601980" y="571500"/>
            <a:chExt cx="10980420" cy="44767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571500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嵌入式系统原理及应用 · 课堂讨论 01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009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90550" y="1657350"/>
            <a:ext cx="4240073" cy="2379345"/>
            <a:chOff x="590550" y="1657350"/>
            <a:chExt cx="4240073" cy="2379345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657350"/>
              <a:ext cx="326898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时钟之迹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7032" y="2735580"/>
              <a:ext cx="41935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STM32F407 时钟配置与软件延时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0080" y="3429000"/>
              <a:ext cx="219646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STM32F407ZGT6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Keil MDK / STM32CubeMX</a:t>
              </a:r>
            </a:p>
          </p:txBody>
        </p:sp>
      </p:grpSp>
      <p:grpSp>
        <p:nvGrpSpPr>
          <p:cNvPr id="20" name="signal"/>
          <p:cNvGrpSpPr/>
          <p:nvPr/>
        </p:nvGrpSpPr>
        <p:grpSpPr>
          <a:xfrm>
            <a:off x="7524750" y="1762125"/>
            <a:ext cx="4057650" cy="2703195"/>
            <a:chOff x="7524750" y="1762125"/>
            <a:chExt cx="4057650" cy="2703195"/>
          </a:xfrm>
        </p:grpSpPr>
        <p:sp>
          <p:nvSpPr>
            <p:cNvPr id="9" name="Line 9"/>
            <p:cNvSpPr/>
            <p:nvPr/>
          </p:nvSpPr>
          <p:spPr>
            <a:xfrm>
              <a:off x="7524750" y="1762125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4750" y="2000250"/>
              <a:ext cx="1370838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168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14282" y="2421255"/>
              <a:ext cx="5640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MHz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524750" y="30099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53375" y="2819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953375" y="28194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334375" y="2819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34375" y="3009900"/>
              <a:ext cx="3248025" cy="9525"/>
            </a:xfrm>
            <a:custGeom>
              <a:avLst/>
              <a:gdLst/>
              <a:ahLst/>
              <a:cxnLst/>
              <a:rect l="l" t="t" r="r" b="b"/>
              <a:pathLst>
                <a:path w="3248025" h="9525">
                  <a:moveTo>
                    <a:pt x="0" y="0"/>
                  </a:moveTo>
                  <a:lnTo>
                    <a:pt x="3248025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4750" y="3297555"/>
              <a:ext cx="41570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8907" y="3621405"/>
              <a:ext cx="3888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5230" y="4171950"/>
              <a:ext cx="3412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HAL 时基周期 · 由 HAL_InitTick 配置</a:t>
              </a:r>
            </a:p>
          </p:txBody>
        </p:sp>
      </p:grpSp>
      <p:grpSp>
        <p:nvGrpSpPr>
          <p:cNvPr id="26" name="stages"/>
          <p:cNvGrpSpPr/>
          <p:nvPr/>
        </p:nvGrpSpPr>
        <p:grpSpPr>
          <a:xfrm>
            <a:off x="600456" y="5029200"/>
            <a:ext cx="10981944" cy="653034"/>
            <a:chOff x="600456" y="5029200"/>
            <a:chExt cx="10981944" cy="653034"/>
          </a:xfrm>
        </p:grpSpPr>
        <p:sp>
          <p:nvSpPr>
            <p:cNvPr id="21" name="Line 21"/>
            <p:cNvSpPr/>
            <p:nvPr/>
          </p:nvSpPr>
          <p:spPr>
            <a:xfrm>
              <a:off x="609600" y="502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0456" y="533019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5581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设置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82131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获取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92006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应用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290310"/>
            <a:ext cx="10984992" cy="234696"/>
            <a:chOff x="603504" y="6290310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290310"/>
              <a:ext cx="2885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代码追踪：CH5EX01HAL / CH5Ex01STD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6492240" cy="954405"/>
            <a:chOff x="594360" y="480060"/>
            <a:chExt cx="649224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追踪路线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四阶段：初始化、设置、获取、应用</a:t>
              </a:r>
            </a:p>
          </p:txBody>
        </p:sp>
      </p:grpSp>
      <p:grpSp>
        <p:nvGrpSpPr>
          <p:cNvPr id="26" name="four-phases"/>
          <p:cNvGrpSpPr/>
          <p:nvPr/>
        </p:nvGrpSpPr>
        <p:grpSpPr>
          <a:xfrm>
            <a:off x="637032" y="2009775"/>
            <a:ext cx="10650093" cy="2512695"/>
            <a:chOff x="637032" y="2009775"/>
            <a:chExt cx="10650093" cy="2512695"/>
          </a:xfrm>
        </p:grpSpPr>
        <p:sp>
          <p:nvSpPr>
            <p:cNvPr id="5" name="Line 5"/>
            <p:cNvSpPr/>
            <p:nvPr/>
          </p:nvSpPr>
          <p:spPr>
            <a:xfrm>
              <a:off x="857250" y="2286000"/>
              <a:ext cx="10429875" cy="9525"/>
            </a:xfrm>
            <a:custGeom>
              <a:avLst/>
              <a:gdLst/>
              <a:ahLst/>
              <a:cxnLst/>
              <a:rect l="l" t="t" r="r" b="b"/>
              <a:pathLst>
                <a:path w="10429875" h="9525">
                  <a:moveTo>
                    <a:pt x="0" y="0"/>
                  </a:moveTo>
                  <a:lnTo>
                    <a:pt x="104298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38175" y="2009775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9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419475" y="2009775"/>
              <a:ext cx="552450" cy="552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532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200775" y="2009775"/>
              <a:ext cx="552450" cy="552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345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982075" y="2009775"/>
              <a:ext cx="552450" cy="552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158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7032" y="28117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183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996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09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5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复位与运行环境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98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主频与时基配置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11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频率与时间读取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24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延时与任务时序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080" y="3933825"/>
              <a:ext cx="12725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SystemInit()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HAL_Init()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1380" y="3933825"/>
              <a:ext cx="2110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SystemClock_Config()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SysTick_Config()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2680" y="3933825"/>
              <a:ext cx="19011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HAL_RCC_Get…Freq()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HAL_GetTick()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83980" y="3933825"/>
              <a:ext cx="11677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Delay()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HAL_Delay()</a:t>
              </a:r>
            </a:p>
          </p:txBody>
        </p:sp>
      </p:grpSp>
      <p:grpSp>
        <p:nvGrpSpPr>
          <p:cNvPr id="31" name="examples"/>
          <p:cNvGrpSpPr/>
          <p:nvPr/>
        </p:nvGrpSpPr>
        <p:grpSpPr>
          <a:xfrm>
            <a:off x="609600" y="5219700"/>
            <a:ext cx="10972800" cy="733425"/>
            <a:chOff x="609600" y="5219700"/>
            <a:chExt cx="10972800" cy="733425"/>
          </a:xfrm>
        </p:grpSpPr>
        <p:sp>
          <p:nvSpPr>
            <p:cNvPr id="27" name="Rectangle 27"/>
            <p:cNvSpPr/>
            <p:nvPr/>
          </p:nvSpPr>
          <p:spPr>
            <a:xfrm>
              <a:off x="609600" y="5219700"/>
              <a:ext cx="10972800" cy="733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5362575"/>
              <a:ext cx="3148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CH5EX01HAL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外部时钟配置 8 MHz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07430" y="5362575"/>
              <a:ext cx="3254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CH5Ex01STD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外部时钟配置 25 MHz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5680710"/>
              <a:ext cx="7023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两份实际例程，主频均配置为 168 MHz（板上晶振差异见第 4 页）；沿调用关系分析配置与时序。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299835"/>
              <a:ext cx="6740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main.c、hal_conf.h；STD Usermain.c、system_stm32f4xx.c、stm32f4xx.h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280660" cy="954405"/>
            <a:chOff x="594360" y="480060"/>
            <a:chExt cx="528066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初始化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初始化：启动流程与时基依赖</a:t>
              </a:r>
            </a:p>
          </p:txBody>
        </p:sp>
      </p:grpSp>
      <p:grpSp>
        <p:nvGrpSpPr>
          <p:cNvPr id="14" name="startup"/>
          <p:cNvGrpSpPr/>
          <p:nvPr/>
        </p:nvGrpSpPr>
        <p:grpSpPr>
          <a:xfrm>
            <a:off x="609600" y="1685925"/>
            <a:ext cx="10972800" cy="733425"/>
            <a:chOff x="609600" y="1685925"/>
            <a:chExt cx="10972800" cy="733425"/>
          </a:xfrm>
        </p:grpSpPr>
        <p:sp>
          <p:nvSpPr>
            <p:cNvPr id="5" name="Rectangle 5"/>
            <p:cNvSpPr/>
            <p:nvPr/>
          </p:nvSpPr>
          <p:spPr>
            <a:xfrm>
              <a:off x="609600" y="1685925"/>
              <a:ext cx="10972800" cy="733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939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52981" y="1939290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SystemInit()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05656" y="1939290"/>
              <a:ext cx="16898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 运行时初始化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44106" y="19392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main()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19225" y="2047875"/>
              <a:ext cx="2381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3524250" y="2047875"/>
              <a:ext cx="4572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6191250" y="2047875"/>
              <a:ext cx="6000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64880" y="1952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两份工程共同的入口</a:t>
              </a:r>
            </a:p>
          </p:txBody>
        </p:sp>
      </p:grpSp>
      <p:grpSp>
        <p:nvGrpSpPr>
          <p:cNvPr id="18" name="standard-init"/>
          <p:cNvGrpSpPr/>
          <p:nvPr/>
        </p:nvGrpSpPr>
        <p:grpSpPr>
          <a:xfrm>
            <a:off x="598932" y="2811780"/>
            <a:ext cx="3400616" cy="2329815"/>
            <a:chOff x="598932" y="2811780"/>
            <a:chExt cx="3400616" cy="2329815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2811780"/>
              <a:ext cx="25034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main 之前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3425190"/>
              <a:ext cx="2944368" cy="1247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SystemInit()</a:t>
              </a:r>
              <a:br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 → SetSysClock()</a:t>
              </a:r>
              <a:br/>
              <a:r>
                <a:rPr lang="zh-CN" sz="18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 xml:space="preserve">  → HSE + PLL + 总线分频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4848225"/>
              <a:ext cx="339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 main 时，主时钟配置已经完成。</a:t>
              </a:r>
            </a:p>
          </p:txBody>
        </p:sp>
      </p:grpSp>
      <p:grpSp>
        <p:nvGrpSpPr>
          <p:cNvPr id="24" name="hal-init"/>
          <p:cNvGrpSpPr/>
          <p:nvPr/>
        </p:nvGrpSpPr>
        <p:grpSpPr>
          <a:xfrm>
            <a:off x="5876925" y="2811780"/>
            <a:ext cx="5705475" cy="2329815"/>
            <a:chOff x="5876925" y="2811780"/>
            <a:chExt cx="5705475" cy="2329815"/>
          </a:xfrm>
        </p:grpSpPr>
        <p:sp>
          <p:nvSpPr>
            <p:cNvPr id="19" name="TextBox 19"/>
            <p:cNvSpPr txBox="1"/>
            <p:nvPr/>
          </p:nvSpPr>
          <p:spPr>
            <a:xfrm>
              <a:off x="6094857" y="2811780"/>
              <a:ext cx="19002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· main 中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876925" y="3248025"/>
              <a:ext cx="5705475" cy="1504950"/>
            </a:xfrm>
            <a:prstGeom prst="roundRect">
              <a:avLst>
                <a:gd name="adj" fmla="val 50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99429" y="3404235"/>
              <a:ext cx="1709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main() / HAL 调用顺序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7905" y="3752850"/>
              <a:ext cx="22155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HAL_Init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();</a:t>
              </a:r>
              <a:br/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SystemClock_Config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();</a:t>
              </a:r>
              <a:br/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MX_GPIO_Init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();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7905" y="4848225"/>
              <a:ext cx="3594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HSI 16 MHz 建立时基 → PLL 168 MHz。</a:t>
              </a:r>
            </a:p>
          </p:txBody>
        </p:sp>
      </p:grpSp>
      <p:grpSp>
        <p:nvGrpSpPr>
          <p:cNvPr id="27" name="tick-refresh"/>
          <p:cNvGrpSpPr/>
          <p:nvPr/>
        </p:nvGrpSpPr>
        <p:grpSpPr>
          <a:xfrm>
            <a:off x="601980" y="5305425"/>
            <a:ext cx="10980420" cy="760095"/>
            <a:chOff x="601980" y="5305425"/>
            <a:chExt cx="10980420" cy="760095"/>
          </a:xfrm>
        </p:grpSpPr>
        <p:sp>
          <p:nvSpPr>
            <p:cNvPr id="25" name="Line 25"/>
            <p:cNvSpPr/>
            <p:nvPr/>
          </p:nvSpPr>
          <p:spPr>
            <a:xfrm>
              <a:off x="609600" y="53054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5457825"/>
              <a:ext cx="635889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初始 1 ms 时基供 HSE 就绪检测、PLL 锁定等待中的超时判断使用。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切换至 168 MHz 后：更新 SystemCoreClock → 再次调用 HAL_InitTick()。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299835"/>
              <a:ext cx="5441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源码：两工程启动文件与 system_stm32f4xx.c；HAL main.c、hal_rcc.c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808372" cy="954405"/>
            <a:chOff x="594360" y="480060"/>
            <a:chExt cx="4808372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设置时钟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8083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PLL：主频合成与输出约束</a:t>
              </a:r>
            </a:p>
          </p:txBody>
        </p:sp>
      </p:grpSp>
      <p:grpSp>
        <p:nvGrpSpPr>
          <p:cNvPr id="22" name="pll-equation"/>
          <p:cNvGrpSpPr/>
          <p:nvPr/>
        </p:nvGrpSpPr>
        <p:grpSpPr>
          <a:xfrm>
            <a:off x="609600" y="1809750"/>
            <a:ext cx="10972800" cy="1430655"/>
            <a:chOff x="609600" y="1809750"/>
            <a:chExt cx="10972800" cy="1430655"/>
          </a:xfrm>
        </p:grpSpPr>
        <p:sp>
          <p:nvSpPr>
            <p:cNvPr id="5" name="TextBox 5"/>
            <p:cNvSpPr txBox="1"/>
            <p:nvPr/>
          </p:nvSpPr>
          <p:spPr>
            <a:xfrm>
              <a:off x="711708" y="180975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HSE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12720" y="1809750"/>
              <a:ext cx="175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15281" y="180975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15581" y="180975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74911" y="1809750"/>
              <a:ext cx="7193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SYSCLK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87495" y="2249805"/>
              <a:ext cx="9832543" cy="990600"/>
              <a:chOff x="687495" y="2249805"/>
              <a:chExt cx="9832543" cy="9906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874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99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÷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924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449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×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96111" y="2249805"/>
                <a:ext cx="1170927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336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215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÷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740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2408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=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49111" y="2249805"/>
                <a:ext cx="1170927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168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809732" y="2573655"/>
              <a:ext cx="5640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MHz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162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pll-code"/>
          <p:cNvGrpSpPr/>
          <p:nvPr/>
        </p:nvGrpSpPr>
        <p:grpSpPr>
          <a:xfrm>
            <a:off x="609600" y="3400425"/>
            <a:ext cx="6981825" cy="2553081"/>
            <a:chOff x="609600" y="3400425"/>
            <a:chExt cx="6981825" cy="2553081"/>
          </a:xfrm>
        </p:grpSpPr>
        <p:sp>
          <p:nvSpPr>
            <p:cNvPr id="23" name="Rectangle 23"/>
            <p:cNvSpPr/>
            <p:nvPr/>
          </p:nvSpPr>
          <p:spPr>
            <a:xfrm>
              <a:off x="609600" y="3400425"/>
              <a:ext cx="6981825" cy="2543175"/>
            </a:xfrm>
            <a:prstGeom prst="roundRect">
              <a:avLst>
                <a:gd name="adj" fmla="val 29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579" y="3604260"/>
              <a:ext cx="26024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SystemClock_Config() / PLL 参数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55" y="3971925"/>
              <a:ext cx="5463540" cy="1474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RCC_OscInitStruct.PLL.PLLSource = RCC_PLLSOURCE_HSE;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RCC_OscInitStruct.PLL.PLLM = </a:t>
              </a:r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8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RCC_OscInitStruct.PLL.PLLN = </a:t>
              </a:r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336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RCC_OscInitStruct.PLL.PLLP = RCC_PLLP_DIV2;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RCC_OscInitStruct.PLL.PLLQ = </a:t>
              </a:r>
              <a:r>
                <a:rPr lang="zh-CN" sz="1500" dirty="0">
                  <a:solidFill>
                    <a:srgbClr val="F3AD80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579" y="5471160"/>
              <a:ext cx="387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STD：25 ÷ 25 × 336 ÷ 2 = 168 MHz，原例程 Q = 7。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579" y="5718810"/>
              <a:ext cx="6307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AD80"/>
                  </a:solidFill>
                  <a:latin typeface="+mn-lt"/>
                  <a:ea typeface="+mn-ea"/>
                  <a:cs typeface="+mn-cs"/>
                </a:rPr>
                <a:t>板上晶振 8 MHz：实际 53.76 MHz，SystemCoreClock 仍为 168 MHz，M 需改 25→8。</a:t>
              </a:r>
            </a:p>
          </p:txBody>
        </p:sp>
      </p:grpSp>
      <p:grpSp>
        <p:nvGrpSpPr>
          <p:cNvPr id="36" name="q-branch"/>
          <p:cNvGrpSpPr/>
          <p:nvPr/>
        </p:nvGrpSpPr>
        <p:grpSpPr>
          <a:xfrm>
            <a:off x="7961757" y="3459480"/>
            <a:ext cx="3620643" cy="2513076"/>
            <a:chOff x="7961757" y="3459480"/>
            <a:chExt cx="3620643" cy="2513076"/>
          </a:xfrm>
        </p:grpSpPr>
        <p:sp>
          <p:nvSpPr>
            <p:cNvPr id="29" name="TextBox 29"/>
            <p:cNvSpPr txBox="1"/>
            <p:nvPr/>
          </p:nvSpPr>
          <p:spPr>
            <a:xfrm>
              <a:off x="7961757" y="3459480"/>
              <a:ext cx="19989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PLLQ 输出频率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61757" y="3916680"/>
              <a:ext cx="23869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84 MHz ＞ 75 MHz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64805" y="4324350"/>
              <a:ext cx="2682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 = 4：336 ÷ 4 = 84 MHz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超过数据手册规定的输出上限。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65567" y="4873942"/>
              <a:ext cx="31769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USB OTG FS、SDIO、RNG 使用 PLL48CK，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例程未启用，越限不影响运行。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972425" y="5448300"/>
              <a:ext cx="3609975" cy="9525"/>
            </a:xfrm>
            <a:custGeom>
              <a:avLst/>
              <a:gdLst/>
              <a:ahLst/>
              <a:cxnLst/>
              <a:rect l="l" t="t" r="r" b="b"/>
              <a:pathLst>
                <a:path w="3609975" h="9525">
                  <a:moveTo>
                    <a:pt x="0" y="0"/>
                  </a:moveTo>
                  <a:lnTo>
                    <a:pt x="36099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64805" y="5495925"/>
              <a:ext cx="24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本组参数：Q = 7 → 48 MHz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6329" y="5737860"/>
              <a:ext cx="2751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DS8626 Rev 12，表 36：最大 75 MHz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299835"/>
              <a:ext cx="6912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main.c；STD system_stm32f4xx.c。数据手册：DS8626 Rev 12，p.106，表 36。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994666" cy="954405"/>
            <a:chOff x="594360" y="480060"/>
            <a:chExt cx="4994666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设置时钟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9946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总线分频与 Flash 访问时序</a:t>
              </a:r>
            </a:p>
          </p:txBody>
        </p:sp>
      </p:grpSp>
      <p:grpSp>
        <p:nvGrpSpPr>
          <p:cNvPr id="23" name="clock-tree"/>
          <p:cNvGrpSpPr/>
          <p:nvPr/>
        </p:nvGrpSpPr>
        <p:grpSpPr>
          <a:xfrm>
            <a:off x="609600" y="1885950"/>
            <a:ext cx="9251632" cy="2417445"/>
            <a:chOff x="609600" y="1885950"/>
            <a:chExt cx="9251632" cy="2417445"/>
          </a:xfrm>
        </p:grpSpPr>
        <p:sp>
          <p:nvSpPr>
            <p:cNvPr id="5" name="Rectangle 5"/>
            <p:cNvSpPr/>
            <p:nvPr/>
          </p:nvSpPr>
          <p:spPr>
            <a:xfrm>
              <a:off x="609600" y="2524125"/>
              <a:ext cx="2124075" cy="1257300"/>
            </a:xfrm>
            <a:prstGeom prst="roundRect">
              <a:avLst>
                <a:gd name="adj" fmla="val 606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1055" y="2705100"/>
              <a:ext cx="1316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SYSCLK / PLL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3435" y="3009900"/>
              <a:ext cx="17026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168 MHz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733675" y="3143250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7505" y="272415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AHB /1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762375" y="2524125"/>
              <a:ext cx="2219325" cy="1257300"/>
            </a:xfrm>
            <a:prstGeom prst="roundRect">
              <a:avLst>
                <a:gd name="adj" fmla="val 60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73830" y="2705100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HCLK / CPU · AHB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66210" y="3009900"/>
              <a:ext cx="17026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168 MHz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981700" y="31432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486525" y="2276475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486525" y="2276475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6486525" y="3876675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9880" y="188595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APB1 /4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9880" y="35052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APB2 /2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66482" y="1983105"/>
              <a:ext cx="19821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PCLK1 42 MHz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69530" y="2409825"/>
              <a:ext cx="2076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APB1 定时器 → 84 MHz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66482" y="3583305"/>
              <a:ext cx="19821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PCLK2 84 MHz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69530" y="4010025"/>
              <a:ext cx="2191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APB2 定时器 → 168 MHz</a:t>
              </a:r>
            </a:p>
          </p:txBody>
        </p:sp>
      </p:grpSp>
      <p:grpSp>
        <p:nvGrpSpPr>
          <p:cNvPr id="27" name="divider-code"/>
          <p:cNvGrpSpPr/>
          <p:nvPr/>
        </p:nvGrpSpPr>
        <p:grpSpPr>
          <a:xfrm>
            <a:off x="609600" y="4572000"/>
            <a:ext cx="7115175" cy="1371600"/>
            <a:chOff x="609600" y="4572000"/>
            <a:chExt cx="7115175" cy="1371600"/>
          </a:xfrm>
        </p:grpSpPr>
        <p:sp>
          <p:nvSpPr>
            <p:cNvPr id="24" name="Rectangle 24"/>
            <p:cNvSpPr/>
            <p:nvPr/>
          </p:nvSpPr>
          <p:spPr>
            <a:xfrm>
              <a:off x="609600" y="4572000"/>
              <a:ext cx="7115175" cy="13716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2005" y="4743450"/>
              <a:ext cx="52539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RCC_ClkInitStruct.AHBCLKDivider = RCC_SYSCLK_DIV1;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RCC_ClkInitStruct.APB1CLKDivider = RCC_HCLK_DIV4;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RCC_ClkInitStruct.APB2CLKDivider = RCC_HCLK_DIV2;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529" y="5671185"/>
              <a:ext cx="5175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168 MHz / 2.7–3.6 V：Flash 配置 5 WS（RM0090 Rev 22，表 11）。</a:t>
              </a:r>
            </a:p>
          </p:txBody>
        </p:sp>
      </p:grpSp>
      <p:grpSp>
        <p:nvGrpSpPr>
          <p:cNvPr id="30" name="timer-rule"/>
          <p:cNvGrpSpPr/>
          <p:nvPr/>
        </p:nvGrpSpPr>
        <p:grpSpPr>
          <a:xfrm>
            <a:off x="8096631" y="4682490"/>
            <a:ext cx="2550414" cy="1097280"/>
            <a:chOff x="8096631" y="4682490"/>
            <a:chExt cx="2550414" cy="1097280"/>
          </a:xfrm>
        </p:grpSpPr>
        <p:sp>
          <p:nvSpPr>
            <p:cNvPr id="28" name="TextBox 28"/>
            <p:cNvSpPr txBox="1"/>
            <p:nvPr/>
          </p:nvSpPr>
          <p:spPr>
            <a:xfrm>
              <a:off x="8096631" y="4682490"/>
              <a:ext cx="19019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F407 定时器时钟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8155" y="5162550"/>
              <a:ext cx="254889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APB 分频 = 1：TIM = PCLK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APB 分频 ≠ 1：TIM = 2 × PCLK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299835"/>
              <a:ext cx="4883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main.c；原理：RM0090，STM32F405/407 RCC 时钟树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876800" cy="954405"/>
            <a:chOff x="594360" y="480060"/>
            <a:chExt cx="487680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获取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获取：时钟频率与累计时间</a:t>
              </a:r>
            </a:p>
          </p:txBody>
        </p:sp>
      </p:grpSp>
      <p:grpSp>
        <p:nvGrpSpPr>
          <p:cNvPr id="13" name="get-frequency"/>
          <p:cNvGrpSpPr/>
          <p:nvPr/>
        </p:nvGrpSpPr>
        <p:grpSpPr>
          <a:xfrm>
            <a:off x="598932" y="1849755"/>
            <a:ext cx="5935218" cy="3446145"/>
            <a:chOff x="598932" y="1849755"/>
            <a:chExt cx="5935218" cy="3446145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49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读时钟频率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66257" y="1849755"/>
              <a:ext cx="3411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Hz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295525"/>
              <a:ext cx="5924550" cy="9525"/>
            </a:xfrm>
            <a:custGeom>
              <a:avLst/>
              <a:gdLst/>
              <a:ahLst/>
              <a:cxnLst/>
              <a:rect l="l" t="t" r="r" b="b"/>
              <a:pathLst>
                <a:path w="5924550" h="9525">
                  <a:moveTo>
                    <a:pt x="0" y="0"/>
                  </a:moveTo>
                  <a:lnTo>
                    <a:pt x="5924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2581275"/>
              <a:ext cx="2634615" cy="1636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HAL_RCC_GetSysClockFreq()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HAL_RCC_GetHCLKFreq()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HAL_RCC_GetPCLK1Freq()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HAL_RCC_GetPCLK2Freq()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54855" y="2581275"/>
              <a:ext cx="1072515" cy="1636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168 000 000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168 000 000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84 000 000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4467225"/>
              <a:ext cx="5924550" cy="828675"/>
            </a:xfrm>
            <a:prstGeom prst="roundRect">
              <a:avLst>
                <a:gd name="adj" fmla="val 91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529" y="4613910"/>
              <a:ext cx="26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标准库在 Usermain.c 读取整组频率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005" y="4933950"/>
              <a:ext cx="35360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RCC_GetClocksFreq(&amp;RCC_Clocks);</a:t>
              </a:r>
            </a:p>
          </p:txBody>
        </p:sp>
      </p:grpSp>
      <p:grpSp>
        <p:nvGrpSpPr>
          <p:cNvPr id="22" name="get-time"/>
          <p:cNvGrpSpPr/>
          <p:nvPr/>
        </p:nvGrpSpPr>
        <p:grpSpPr>
          <a:xfrm>
            <a:off x="6999732" y="1849755"/>
            <a:ext cx="4582668" cy="3446145"/>
            <a:chOff x="6999732" y="1849755"/>
            <a:chExt cx="4582668" cy="3446145"/>
          </a:xfrm>
        </p:grpSpPr>
        <p:sp>
          <p:nvSpPr>
            <p:cNvPr id="14" name="TextBox 14"/>
            <p:cNvSpPr txBox="1"/>
            <p:nvPr/>
          </p:nvSpPr>
          <p:spPr>
            <a:xfrm>
              <a:off x="6999732" y="1849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读累计时间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57382" y="1849755"/>
              <a:ext cx="3888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010400" y="22955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9732" y="2516505"/>
              <a:ext cx="20998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HAL_GetTick()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1256" y="2987040"/>
              <a:ext cx="2635758" cy="7235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返回时基计数 uwTick。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默认每次中断累计 1 ms。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10400" y="3838575"/>
              <a:ext cx="4572000" cy="1457325"/>
            </a:xfrm>
            <a:prstGeom prst="roundRect">
              <a:avLst>
                <a:gd name="adj" fmla="val 52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04329" y="3985260"/>
              <a:ext cx="1336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stm32f4xx_hal.c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2805" y="4276725"/>
              <a:ext cx="3472815" cy="1007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__weak uint32_t HAL_GetTick(void)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return uwTick;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software-record"/>
          <p:cNvGrpSpPr/>
          <p:nvPr/>
        </p:nvGrpSpPr>
        <p:grpSpPr>
          <a:xfrm>
            <a:off x="601980" y="5514975"/>
            <a:ext cx="8159115" cy="607695"/>
            <a:chOff x="601980" y="5514975"/>
            <a:chExt cx="8159115" cy="607695"/>
          </a:xfrm>
        </p:grpSpPr>
        <p:sp>
          <p:nvSpPr>
            <p:cNvPr id="23" name="TextBox 23"/>
            <p:cNvSpPr txBox="1"/>
            <p:nvPr/>
          </p:nvSpPr>
          <p:spPr>
            <a:xfrm>
              <a:off x="601980" y="5514975"/>
              <a:ext cx="81591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GetSysClockFreq()：按寄存器与时钟源参数计算；GetHCLKFreq()：读取 SystemCoreClock。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SystemCoreClockUpdate() 刷新 HCLK 软件记录；HAL_GetTick() 读取中断维护的 uwTick。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299835"/>
              <a:ext cx="4697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hal_rcc.c 的 Get…Freq()；hal.c；STD Usermain.c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216500" cy="954405"/>
            <a:chOff x="594360" y="480060"/>
            <a:chExt cx="521650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→ 04 / 时基配置与软件延时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216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SysTick：时基周期与重装值</a:t>
              </a:r>
            </a:p>
          </p:txBody>
        </p:sp>
      </p:grpSp>
      <p:grpSp>
        <p:nvGrpSpPr>
          <p:cNvPr id="8" name="counter-principle"/>
          <p:cNvGrpSpPr/>
          <p:nvPr/>
        </p:nvGrpSpPr>
        <p:grpSpPr>
          <a:xfrm>
            <a:off x="598932" y="1802130"/>
            <a:ext cx="9521571" cy="848868"/>
            <a:chOff x="598932" y="1802130"/>
            <a:chExt cx="9521571" cy="84886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61983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 位递减计数器：装载 → 递减 → 到零中断 → 重装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2240280"/>
              <a:ext cx="40269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 = (LOAD + 1) / fSysTick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50405" y="2305050"/>
              <a:ext cx="3070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两份例程均通过 CMSIS 选择 HCLK</a:t>
              </a:r>
            </a:p>
          </p:txBody>
        </p:sp>
      </p:grpSp>
      <p:grpSp>
        <p:nvGrpSpPr>
          <p:cNvPr id="13" name="std-period"/>
          <p:cNvGrpSpPr/>
          <p:nvPr/>
        </p:nvGrpSpPr>
        <p:grpSpPr>
          <a:xfrm>
            <a:off x="590550" y="2876550"/>
            <a:ext cx="5210175" cy="1798320"/>
            <a:chOff x="590550" y="2876550"/>
            <a:chExt cx="5210175" cy="1798320"/>
          </a:xfrm>
        </p:grpSpPr>
        <p:sp>
          <p:nvSpPr>
            <p:cNvPr id="9" name="Line 9"/>
            <p:cNvSpPr/>
            <p:nvPr/>
          </p:nvSpPr>
          <p:spPr>
            <a:xfrm>
              <a:off x="609600" y="287655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3101340"/>
              <a:ext cx="2319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HCLK / 100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3507105"/>
              <a:ext cx="125977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4381500"/>
              <a:ext cx="3623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ticks = 1 680 000　 LOAD = 1 679 999</a:t>
              </a:r>
            </a:p>
          </p:txBody>
        </p:sp>
      </p:grpSp>
      <p:grpSp>
        <p:nvGrpSpPr>
          <p:cNvPr id="18" name="hal-period"/>
          <p:cNvGrpSpPr/>
          <p:nvPr/>
        </p:nvGrpSpPr>
        <p:grpSpPr>
          <a:xfrm>
            <a:off x="6372225" y="2876550"/>
            <a:ext cx="5210175" cy="1798320"/>
            <a:chOff x="6372225" y="2876550"/>
            <a:chExt cx="5210175" cy="1798320"/>
          </a:xfrm>
        </p:grpSpPr>
        <p:sp>
          <p:nvSpPr>
            <p:cNvPr id="14" name="Line 14"/>
            <p:cNvSpPr/>
            <p:nvPr/>
          </p:nvSpPr>
          <p:spPr>
            <a:xfrm>
              <a:off x="6391275" y="287655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2131" y="3101340"/>
              <a:ext cx="27175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默认 · HCLK / 1000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225" y="3507105"/>
              <a:ext cx="88216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ms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3655" y="4381500"/>
              <a:ext cx="3270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ticks = 168 000　 LOAD = 167 999</a:t>
              </a:r>
            </a:p>
          </p:txBody>
        </p:sp>
      </p:grpSp>
      <p:grpSp>
        <p:nvGrpSpPr>
          <p:cNvPr id="22" name="systick-code"/>
          <p:cNvGrpSpPr/>
          <p:nvPr/>
        </p:nvGrpSpPr>
        <p:grpSpPr>
          <a:xfrm>
            <a:off x="609600" y="4905375"/>
            <a:ext cx="10972800" cy="1066800"/>
            <a:chOff x="609600" y="4905375"/>
            <a:chExt cx="109728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09600" y="4905375"/>
              <a:ext cx="10972800" cy="1066800"/>
            </a:xfrm>
            <a:prstGeom prst="roundRect">
              <a:avLst>
                <a:gd name="adj" fmla="val 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530" y="5057775"/>
              <a:ext cx="60921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SysTick_Config(RCC_Clocks.HCLK_Frequency / 100);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HAL_SYSTICK_Config(SystemCoreClock / (1000U / uwTickFreq))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054" y="5671185"/>
              <a:ext cx="760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原调用表达式；HAL 默认 uwTickFreq = 1。CMSIS 写入 LOAD = ticks − 1；改 HCLK 后需重新配置节拍。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99835"/>
              <a:ext cx="6509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源码：STD Usermain.c；HAL hal.c；CMSIS core_cm4.h:2022–2036；PM0214 SysTick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6481450" cy="954405"/>
            <a:chOff x="594360" y="480060"/>
            <a:chExt cx="648145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应用 · 标准库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64814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标准库 Delay：递减计数与阻塞等待</a:t>
              </a:r>
            </a:p>
          </p:txBody>
        </p:sp>
      </p:grpSp>
      <p:grpSp>
        <p:nvGrpSpPr>
          <p:cNvPr id="8" name="delay-code"/>
          <p:cNvGrpSpPr/>
          <p:nvPr/>
        </p:nvGrpSpPr>
        <p:grpSpPr>
          <a:xfrm>
            <a:off x="609600" y="1695450"/>
            <a:ext cx="6448425" cy="3590925"/>
            <a:chOff x="609600" y="1695450"/>
            <a:chExt cx="6448425" cy="3590925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6448425" cy="3590925"/>
            </a:xfrm>
            <a:prstGeom prst="roundRect">
              <a:avLst>
                <a:gd name="adj" fmla="val 21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054" y="1870710"/>
              <a:ext cx="898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Usermain.c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530" y="2228850"/>
              <a:ext cx="3368040" cy="300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Delay(__IO uint32_t nTime)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uwTimingDelay = nTime;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(uwTimingDelay != 0);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  <a:p>
              <a:pPr algn="l">
                <a:lnSpc>
                  <a:spcPts val="1875"/>
                </a:lnSpc>
                <a:spcBef>
                  <a:spcPts val="750"/>
                </a:spcBef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TimingDelay_Decrement(void)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(uwTimingDelay != 0x00)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  uwTimingDelay--;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delay-flow"/>
          <p:cNvGrpSpPr/>
          <p:nvPr/>
        </p:nvGrpSpPr>
        <p:grpSpPr>
          <a:xfrm>
            <a:off x="7431405" y="1819275"/>
            <a:ext cx="3836670" cy="3429000"/>
            <a:chOff x="7431405" y="1819275"/>
            <a:chExt cx="3836670" cy="3429000"/>
          </a:xfrm>
        </p:grpSpPr>
        <p:sp>
          <p:nvSpPr>
            <p:cNvPr id="9" name="TextBox 9"/>
            <p:cNvSpPr txBox="1"/>
            <p:nvPr/>
          </p:nvSpPr>
          <p:spPr>
            <a:xfrm>
              <a:off x="7431405" y="1819275"/>
              <a:ext cx="1815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Delay(10) · 主循环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67650" y="2266950"/>
              <a:ext cx="2952750" cy="5334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8147" y="2438400"/>
              <a:ext cx="2031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uwTimingDelay = 10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344025" y="2800350"/>
              <a:ext cx="1" cy="4857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8248650" y="3314700"/>
              <a:ext cx="2190750" cy="1028700"/>
            </a:xfrm>
            <a:prstGeom prst="flowChartDecision">
              <a:avLst/>
            </a:prstGeom>
            <a:solidFill>
              <a:srgbClr val="E8F4F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61870" y="3733800"/>
              <a:ext cx="964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计数 ≠ 0？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39400" y="38290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258550" y="3152775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6762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44025" y="3152775"/>
              <a:ext cx="1914525" cy="9525"/>
            </a:xfrm>
            <a:custGeom>
              <a:avLst/>
              <a:gdLst/>
              <a:ahLst/>
              <a:cxnLst/>
              <a:rect l="l" t="t" r="r" b="b"/>
              <a:pathLst>
                <a:path w="1914525" h="9525">
                  <a:moveTo>
                    <a:pt x="19145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999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是：继续检查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344025" y="4343400"/>
              <a:ext cx="1" cy="4095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09379" y="4480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48650" y="4781550"/>
              <a:ext cx="2190750" cy="466725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31580" y="4924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返回主循环</a:t>
              </a:r>
            </a:p>
          </p:txBody>
        </p:sp>
      </p:grpSp>
      <p:grpSp>
        <p:nvGrpSpPr>
          <p:cNvPr id="26" name="interrupt"/>
          <p:cNvGrpSpPr/>
          <p:nvPr/>
        </p:nvGrpSpPr>
        <p:grpSpPr>
          <a:xfrm>
            <a:off x="601980" y="5514975"/>
            <a:ext cx="9945325" cy="607695"/>
            <a:chOff x="601980" y="5514975"/>
            <a:chExt cx="9945325" cy="607695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5514975"/>
              <a:ext cx="9945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SysTick 每 10 ms 调用递减函数；Delay(10) ≈ 100 ms，Delay(1) ≈ 10 ms。板上 8 MHz 晶振时均为 3.1 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980" y="5829300"/>
              <a:ext cx="7290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__IO = volatile：保留共享计数的实际访问；循环阻塞当前任务，中断仍可执行。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299835"/>
              <a:ext cx="3112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源码：STD Usermain.c；stm32f4xx_it.c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6522396" cy="954405"/>
            <a:chOff x="594360" y="480060"/>
            <a:chExt cx="6522396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176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应用 · HAL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65223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HAL_Delay：时间差判定与阻塞等待</a:t>
              </a:r>
            </a:p>
          </p:txBody>
        </p:sp>
      </p:grpSp>
      <p:grpSp>
        <p:nvGrpSpPr>
          <p:cNvPr id="9" name="hal-delay-source"/>
          <p:cNvGrpSpPr/>
          <p:nvPr/>
        </p:nvGrpSpPr>
        <p:grpSpPr>
          <a:xfrm>
            <a:off x="609600" y="1695450"/>
            <a:ext cx="6915150" cy="4305300"/>
            <a:chOff x="609600" y="1695450"/>
            <a:chExt cx="691515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6915150" cy="4305300"/>
            </a:xfrm>
            <a:prstGeom prst="roundRect">
              <a:avLst>
                <a:gd name="adj" fmla="val 177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054" y="1861185"/>
              <a:ext cx="1336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stm32f4xx_hal.c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530" y="2219325"/>
              <a:ext cx="4520565" cy="31222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__weak 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HAL_Delay(uint32_t Delay)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uint32_t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tickstart = HAL_GetTick();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uint32_t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wait = Delay;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(wait &lt; HAL_MAX_DELAY)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  wait += (uint32_t)(uwTickFreq);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((HAL_GetTick() - tickstart) &lt; wait)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3054" y="5652135"/>
              <a:ext cx="444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wait 增加一个时基周期，补偿调用起点处于节拍末尾的情况。</a:t>
              </a:r>
            </a:p>
          </p:txBody>
        </p:sp>
      </p:grpSp>
      <p:grpSp>
        <p:nvGrpSpPr>
          <p:cNvPr id="28" name="hal-delay-mechanism"/>
          <p:cNvGrpSpPr/>
          <p:nvPr/>
        </p:nvGrpSpPr>
        <p:grpSpPr>
          <a:xfrm>
            <a:off x="7898130" y="1828800"/>
            <a:ext cx="3684270" cy="4219956"/>
            <a:chOff x="7898130" y="1828800"/>
            <a:chExt cx="3684270" cy="4219956"/>
          </a:xfrm>
        </p:grpSpPr>
        <p:sp>
          <p:nvSpPr>
            <p:cNvPr id="10" name="TextBox 10"/>
            <p:cNvSpPr txBox="1"/>
            <p:nvPr/>
          </p:nvSpPr>
          <p:spPr>
            <a:xfrm>
              <a:off x="7898130" y="1828800"/>
              <a:ext cx="2662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HAL_Delay(1000) · 阻塞 1 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267700" y="2266950"/>
              <a:ext cx="2952750" cy="8001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9164" y="2445068"/>
              <a:ext cx="2549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tickstart = HAL_GetTick()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76608" y="2711768"/>
              <a:ext cx="253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wait = Delay + uwTickFreq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744075" y="3067050"/>
              <a:ext cx="1" cy="2476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48700" y="3343275"/>
              <a:ext cx="2190750" cy="1028700"/>
            </a:xfrm>
            <a:prstGeom prst="flowChartDecision">
              <a:avLst/>
            </a:prstGeom>
            <a:solidFill>
              <a:srgbClr val="E8F4F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00376" y="37623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经过 ≥ wait？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839450" y="385762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287125" y="319087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44075" y="3190875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1543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09554" y="36328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744075" y="4371975"/>
              <a:ext cx="1" cy="3524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09429" y="44710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648700" y="4752975"/>
              <a:ext cx="2190750" cy="466725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31630" y="4895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返回主循环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905750" y="5410200"/>
              <a:ext cx="3676650" cy="9525"/>
            </a:xfrm>
            <a:custGeom>
              <a:avLst/>
              <a:gdLst/>
              <a:ahLst/>
              <a:cxnLst/>
              <a:rect l="l" t="t" r="r" b="b"/>
              <a:pathLst>
                <a:path w="3676650" h="9525">
                  <a:moveTo>
                    <a:pt x="0" y="0"/>
                  </a:moveTo>
                  <a:lnTo>
                    <a:pt x="3676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98130" y="5534025"/>
              <a:ext cx="3216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节拍：SysTick 中断 → HAL_IncTick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99654" y="5814060"/>
              <a:ext cx="3439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参数单位 ms；节拍周期由 HAL_InitTick 配置。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299835"/>
              <a:ext cx="4238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main.c；stm32f4xx_hal.c；stm32f4xx_it.c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750509" cy="954405"/>
            <a:chOff x="594360" y="480060"/>
            <a:chExt cx="5750509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7505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应用：LED 输出周期与计数回卷</a:t>
              </a:r>
            </a:p>
          </p:txBody>
        </p:sp>
      </p:grpSp>
      <p:grpSp>
        <p:nvGrpSpPr>
          <p:cNvPr id="10" name="std-led"/>
          <p:cNvGrpSpPr/>
          <p:nvPr/>
        </p:nvGrpSpPr>
        <p:grpSpPr>
          <a:xfrm>
            <a:off x="598932" y="1754505"/>
            <a:ext cx="6173343" cy="2970276"/>
            <a:chOff x="598932" y="1754505"/>
            <a:chExt cx="6173343" cy="2970276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54505"/>
              <a:ext cx="2965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模 5 条件触发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190750"/>
              <a:ext cx="6162675" cy="1847850"/>
            </a:xfrm>
            <a:prstGeom prst="roundRect">
              <a:avLst>
                <a:gd name="adj" fmla="val 41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1530" y="2362200"/>
              <a:ext cx="3682365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uint16_t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Number=0,Index=0;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Delay(10);</a:t>
              </a:r>
              <a:br/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(Index%5==0)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GPIO_ToggleBits(GPIOE, LED2_Pin);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Index++;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4191000"/>
              <a:ext cx="4245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普通区间：翻转 ≈ 500 ms，完整亮灭周期 ≈ 1 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504" y="4490085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流水灯每 100 ms 移位。</a:t>
              </a:r>
            </a:p>
          </p:txBody>
        </p:sp>
      </p:grpSp>
      <p:grpSp>
        <p:nvGrpSpPr>
          <p:cNvPr id="16" name="hal-led"/>
          <p:cNvGrpSpPr/>
          <p:nvPr/>
        </p:nvGrpSpPr>
        <p:grpSpPr>
          <a:xfrm>
            <a:off x="7142607" y="1754505"/>
            <a:ext cx="4439793" cy="2806065"/>
            <a:chOff x="7142607" y="1754505"/>
            <a:chExt cx="4439793" cy="2806065"/>
          </a:xfrm>
        </p:grpSpPr>
        <p:sp>
          <p:nvSpPr>
            <p:cNvPr id="11" name="TextBox 11"/>
            <p:cNvSpPr txBox="1"/>
            <p:nvPr/>
          </p:nvSpPr>
          <p:spPr>
            <a:xfrm>
              <a:off x="7142607" y="1754505"/>
              <a:ext cx="20303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· 每轮翻转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153275" y="2190750"/>
              <a:ext cx="4429125" cy="1409700"/>
            </a:xfrm>
            <a:prstGeom prst="roundRect">
              <a:avLst>
                <a:gd name="adj" fmla="val 540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355205" y="2371725"/>
              <a:ext cx="20059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HAL_Delay (1000);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HAL_GPIO_TogglePin(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GPIOE, LED2_Pin);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44131" y="3863340"/>
              <a:ext cx="2950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翻转 ≈ 1 s，亮灭周期 ≈ 2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45655" y="42672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流水灯每 1 s 移位。</a:t>
              </a:r>
            </a:p>
          </p:txBody>
        </p:sp>
      </p:grpSp>
      <p:grpSp>
        <p:nvGrpSpPr>
          <p:cNvPr id="31" name="counter-wrap"/>
          <p:cNvGrpSpPr/>
          <p:nvPr/>
        </p:nvGrpSpPr>
        <p:grpSpPr>
          <a:xfrm>
            <a:off x="601980" y="4962525"/>
            <a:ext cx="7008876" cy="1124331"/>
            <a:chOff x="601980" y="4962525"/>
            <a:chExt cx="7008876" cy="1124331"/>
          </a:xfrm>
        </p:grpSpPr>
        <p:sp>
          <p:nvSpPr>
            <p:cNvPr id="17" name="TextBox 17"/>
            <p:cNvSpPr txBox="1"/>
            <p:nvPr/>
          </p:nvSpPr>
          <p:spPr>
            <a:xfrm>
              <a:off x="601980" y="4962525"/>
              <a:ext cx="3525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Index 回卷前后（每次循环约 100 ms）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05075" y="5267325"/>
              <a:ext cx="1257300" cy="438150"/>
            </a:xfrm>
            <a:prstGeom prst="roundRect">
              <a:avLst>
                <a:gd name="adj" fmla="val 17391"/>
              </a:avLst>
            </a:prstGeom>
            <a:solidFill>
              <a:srgbClr val="F4E4D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43425" y="5267325"/>
              <a:ext cx="1257300" cy="438150"/>
            </a:xfrm>
            <a:prstGeom prst="roundRect">
              <a:avLst>
                <a:gd name="adj" fmla="val 17391"/>
              </a:avLst>
            </a:prstGeom>
            <a:solidFill>
              <a:srgbClr val="F4E4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5042" y="533590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65534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34342" y="533590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65535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3664" y="533590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2489" y="533590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04975" y="5476875"/>
              <a:ext cx="6381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3905250" y="5476875"/>
              <a:ext cx="4762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Line 26"/>
            <p:cNvSpPr/>
            <p:nvPr/>
          </p:nvSpPr>
          <p:spPr>
            <a:xfrm>
              <a:off x="5943600" y="5476875"/>
              <a:ext cx="6762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4469" y="58521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条件不成立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66085" y="5852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翻转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42891" y="5852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再次翻转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0944" y="58521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条件不成立</a:t>
              </a:r>
            </a:p>
          </p:txBody>
        </p:sp>
      </p:grpSp>
      <p:grpSp>
        <p:nvGrpSpPr>
          <p:cNvPr id="35" name="wrap-conclusion"/>
          <p:cNvGrpSpPr/>
          <p:nvPr/>
        </p:nvGrpSpPr>
        <p:grpSpPr>
          <a:xfrm>
            <a:off x="8695182" y="4987290"/>
            <a:ext cx="2353628" cy="1099566"/>
            <a:chOff x="8695182" y="4987290"/>
            <a:chExt cx="2353628" cy="1099566"/>
          </a:xfrm>
        </p:grpSpPr>
        <p:sp>
          <p:nvSpPr>
            <p:cNvPr id="32" name="TextBox 32"/>
            <p:cNvSpPr txBox="1"/>
            <p:nvPr/>
          </p:nvSpPr>
          <p:spPr>
            <a:xfrm>
              <a:off x="8696706" y="4987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相邻两轮连续触发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95182" y="5383530"/>
              <a:ext cx="2353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500 ms → 100 ms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99754" y="5852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改用周期计数或时间差判断。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299835"/>
              <a:ext cx="4313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源码：CH5Ex01STD / Usermain.c；CH5EX01HAL / main.c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069080" cy="954405"/>
            <a:chOff x="594360" y="480060"/>
            <a:chExt cx="406908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原理与应用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时钟域分工与外设门控</a:t>
              </a:r>
            </a:p>
          </p:txBody>
        </p:sp>
      </p:grpSp>
      <p:grpSp>
        <p:nvGrpSpPr>
          <p:cNvPr id="8" name="sources"/>
          <p:cNvGrpSpPr/>
          <p:nvPr/>
        </p:nvGrpSpPr>
        <p:grpSpPr>
          <a:xfrm>
            <a:off x="598932" y="1783080"/>
            <a:ext cx="5116068" cy="1558290"/>
            <a:chOff x="598932" y="1783080"/>
            <a:chExt cx="5116068" cy="155829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83080"/>
              <a:ext cx="1763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高速源与 PLL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02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980" y="2400300"/>
              <a:ext cx="37585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HSI：内部 16 MHz RC，可用于启动与后备。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HSE：外部晶振，提供主时钟参考。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PLL：对参考时钟分频、倍频，再分配输出。</a:t>
              </a:r>
            </a:p>
          </p:txBody>
        </p:sp>
      </p:grpSp>
      <p:grpSp>
        <p:nvGrpSpPr>
          <p:cNvPr id="12" name="bus-roles"/>
          <p:cNvGrpSpPr/>
          <p:nvPr/>
        </p:nvGrpSpPr>
        <p:grpSpPr>
          <a:xfrm>
            <a:off x="6313932" y="1783080"/>
            <a:ext cx="5268468" cy="1558290"/>
            <a:chOff x="6313932" y="1783080"/>
            <a:chExt cx="5268468" cy="1558290"/>
          </a:xfrm>
        </p:grpSpPr>
        <p:sp>
          <p:nvSpPr>
            <p:cNvPr id="9" name="TextBox 9"/>
            <p:cNvSpPr txBox="1"/>
            <p:nvPr/>
          </p:nvSpPr>
          <p:spPr>
            <a:xfrm>
              <a:off x="6313932" y="17830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系统与总线时钟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324600" y="2200275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16980" y="2400300"/>
              <a:ext cx="298704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SYSCLK：选定的系统时钟源输出。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HCLK：CPU、AHB 总线的节拍。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PCLK1 / PCLK2：APB 外设的节拍。</a:t>
              </a:r>
            </a:p>
          </p:txBody>
        </p:sp>
      </p:grpSp>
      <p:grpSp>
        <p:nvGrpSpPr>
          <p:cNvPr id="15" name="low-speed"/>
          <p:cNvGrpSpPr/>
          <p:nvPr/>
        </p:nvGrpSpPr>
        <p:grpSpPr>
          <a:xfrm>
            <a:off x="598932" y="3707130"/>
            <a:ext cx="3780663" cy="1129665"/>
            <a:chOff x="598932" y="3707130"/>
            <a:chExt cx="3780663" cy="1129665"/>
          </a:xfrm>
        </p:grpSpPr>
        <p:sp>
          <p:nvSpPr>
            <p:cNvPr id="13" name="TextBox 13"/>
            <p:cNvSpPr txBox="1"/>
            <p:nvPr/>
          </p:nvSpPr>
          <p:spPr>
            <a:xfrm>
              <a:off x="598932" y="37071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低速时钟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19575"/>
              <a:ext cx="37776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LSE：外部 32.768 kHz，适合 RTC 走时。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LSI：内部约 32 kHz，供独立看门狗等使用。</a:t>
              </a:r>
            </a:p>
          </p:txBody>
        </p:sp>
      </p:grpSp>
      <p:grpSp>
        <p:nvGrpSpPr>
          <p:cNvPr id="18" name="timebase"/>
          <p:cNvGrpSpPr/>
          <p:nvPr/>
        </p:nvGrpSpPr>
        <p:grpSpPr>
          <a:xfrm>
            <a:off x="6313932" y="3707130"/>
            <a:ext cx="3980688" cy="1129665"/>
            <a:chOff x="6313932" y="3707130"/>
            <a:chExt cx="3980688" cy="1129665"/>
          </a:xfrm>
        </p:grpSpPr>
        <p:sp>
          <p:nvSpPr>
            <p:cNvPr id="16" name="TextBox 16"/>
            <p:cNvSpPr txBox="1"/>
            <p:nvPr/>
          </p:nvSpPr>
          <p:spPr>
            <a:xfrm>
              <a:off x="6313932" y="37071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软件计时与硬件定时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980" y="4219575"/>
              <a:ext cx="39776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SysTick：软件时基、超时判断、短时等待。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TIM / PWM：周期中断、精确定时与波形输出。</a:t>
              </a:r>
            </a:p>
          </p:txBody>
        </p:sp>
      </p:grpSp>
      <p:grpSp>
        <p:nvGrpSpPr>
          <p:cNvPr id="23" name="peripheral-gate"/>
          <p:cNvGrpSpPr/>
          <p:nvPr/>
        </p:nvGrpSpPr>
        <p:grpSpPr>
          <a:xfrm>
            <a:off x="609600" y="5219700"/>
            <a:ext cx="10972800" cy="809625"/>
            <a:chOff x="609600" y="5219700"/>
            <a:chExt cx="10972800" cy="809625"/>
          </a:xfrm>
        </p:grpSpPr>
        <p:sp>
          <p:nvSpPr>
            <p:cNvPr id="19" name="Rectangle 19"/>
            <p:cNvSpPr/>
            <p:nvPr/>
          </p:nvSpPr>
          <p:spPr>
            <a:xfrm>
              <a:off x="609600" y="5219700"/>
              <a:ext cx="10972800" cy="809625"/>
            </a:xfrm>
            <a:prstGeom prst="roundRect">
              <a:avLst>
                <a:gd name="adj" fmla="val 941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530" y="5381625"/>
              <a:ext cx="3418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__HAL_RCC_GPIOE_CLK_ENABLE();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5355" y="53816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使用外设前，先打开对应的时钟门控。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5728335"/>
              <a:ext cx="3598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gpio.c · 未使用的外设可关闭时钟，以降低功耗。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299835"/>
              <a:ext cx="609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依据：RM0090，STM32F405/407 RCC、RTC、TIM；PM0214 SysTick；HAL gpio.c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4360" y="680085"/>
            <a:ext cx="5684520" cy="1439799"/>
            <a:chOff x="594360" y="680085"/>
            <a:chExt cx="5684520" cy="143979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680085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时钟之迹 / 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118110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时钟配置与软件时序的完整路径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678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时钟源、分频与计数共同决定软件时序。</a:t>
              </a:r>
            </a:p>
          </p:txBody>
        </p:sp>
      </p:grpSp>
      <p:grpSp>
        <p:nvGrpSpPr>
          <p:cNvPr id="19" name="recap"/>
          <p:cNvGrpSpPr/>
          <p:nvPr/>
        </p:nvGrpSpPr>
        <p:grpSpPr>
          <a:xfrm>
            <a:off x="598932" y="2647950"/>
            <a:ext cx="10983468" cy="1598295"/>
            <a:chOff x="598932" y="2647950"/>
            <a:chExt cx="10983468" cy="1598295"/>
          </a:xfrm>
        </p:grpSpPr>
        <p:sp>
          <p:nvSpPr>
            <p:cNvPr id="6" name="Line 6"/>
            <p:cNvSpPr/>
            <p:nvPr/>
          </p:nvSpPr>
          <p:spPr>
            <a:xfrm>
              <a:off x="609600" y="2733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61747B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95325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505200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343650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01150" y="2647950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932" y="30975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0880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设置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725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获取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0475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3638550"/>
              <a:ext cx="196786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启动路径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SystemInit / HAL_Init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1855" y="3638550"/>
              <a:ext cx="18345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主频与时基配置</a:t>
              </a:r>
              <a:br/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PLL / 总线 / SysTick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0305" y="3638550"/>
              <a:ext cx="17583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频率与时间读取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Get…Freq / GetTick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07805" y="3638550"/>
              <a:ext cx="16059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输出时序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Delay / HAL_Delay</a:t>
              </a:r>
            </a:p>
          </p:txBody>
        </p:sp>
      </p:grpSp>
      <p:grpSp>
        <p:nvGrpSpPr>
          <p:cNvPr id="21" name="final-rule"/>
          <p:cNvGrpSpPr/>
          <p:nvPr/>
        </p:nvGrpSpPr>
        <p:grpSpPr>
          <a:xfrm>
            <a:off x="598932" y="4802505"/>
            <a:ext cx="8804847" cy="410718"/>
            <a:chOff x="598932" y="4802505"/>
            <a:chExt cx="8804847" cy="410718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4802505"/>
              <a:ext cx="8804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标准库节拍 </a:t>
              </a:r>
              <a:r>
                <a:rPr lang="en-US" sz="2100" b="1" dirty="0">
                  <a:solidFill>
                    <a:srgbClr val="F3AD80"/>
                  </a:solidFill>
                  <a:latin typeface="+mn-lt"/>
                  <a:ea typeface="+mn-ea"/>
                  <a:cs typeface="+mn-cs"/>
                </a:rPr>
                <a:t>10 ms</a:t>
              </a:r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　 ·　 HAL 节拍 </a:t>
              </a:r>
              <a:r>
                <a:rPr lang="en-US" sz="2100" b="1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1 ms</a:t>
              </a:r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　 ·　 两种延时均为阻塞等待</a:t>
              </a:r>
            </a:p>
          </p:txBody>
        </p:sp>
      </p:grpSp>
      <p:grpSp>
        <p:nvGrpSpPr>
          <p:cNvPr id="24" name="references"/>
          <p:cNvGrpSpPr/>
          <p:nvPr/>
        </p:nvGrpSpPr>
        <p:grpSpPr>
          <a:xfrm>
            <a:off x="603504" y="5591175"/>
            <a:ext cx="10978896" cy="676656"/>
            <a:chOff x="603504" y="5591175"/>
            <a:chExt cx="10978896" cy="676656"/>
          </a:xfrm>
        </p:grpSpPr>
        <p:sp>
          <p:nvSpPr>
            <p:cNvPr id="22" name="Line 22"/>
            <p:cNvSpPr/>
            <p:nvPr/>
          </p:nvSpPr>
          <p:spPr>
            <a:xfrm>
              <a:off x="609600" y="5591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504" y="5756910"/>
              <a:ext cx="6397752" cy="51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代码：教师例程 CH5EX01HAL、CH5Ex01STD（主程序、RCC/HAL驱动、中断与CMSIS文件）。</a:t>
              </a:r>
              <a:br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手册：ST RM0090（RCC / Flash）；PM0214（SysTick）；DS8626 Rev 12（PLL 输出指标）。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351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AABDBF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2026-10-07T10:33:09Z</dcterms:created>
  <dcterms:modified xsi:type="dcterms:W3CDTF">2026-10-07T10:33:09Z</dcterms:modified>
  <cp:category/>
  <cp:contentStatus/>
</cp:coreProperties>
</file>