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开场：本次讨论讲『时钟之迹』——沿着代码，把 STM32F407 时钟的初始化、设置、获得三步踪迹走一遍，再讲 SysTick 滴答和 Delay/HAL_Delay 两种延时，最后用流程图串起来并总结各时钟原理与应用。芯片选 STM32F407ZGT6，两套例程对照。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先对题：四问就是四站。我们的每一站都落到真实例程代码上，术语和数字严格跟老师 04 课件 15–17 页、03 课件 26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先把老师课件的三页结论钉住：公式 8M/8×336/2=168M；HCLK 168、APB1 42/定时器84、APB2 84/定时器168；SYSCLK 三选一；GPIO 挂 AHB1；SysTick 用 AHB 或 AHB÷8；ADC 在 APB2。后面所有代码都会回到这棵树。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初始化之迹的起点在启动文件：复位向量指向 Reset_Handler，它先调 SystemInit 再进 main。SystemInit 把 RCC 恢复已知状态，真正的配置在 SetSysClock——开 HSE、等就绪、设三路分频、按 M8 N336 P2 配 PLL、最后把 SW 切到 PLL 并等硬件确认。每一步都在『等硬件就绪』，这是时钟代码的共性。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设置之迹在应用层就是一组 RCC_xxxConfig 库函数：宏名对应寄存器位。实验里把 P 从 2 改成 4，系统时钟从 168 降到 84，LED 立刻变慢——时钟不是抽象概念，是能看见的。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 的初始化浓缩成 main 前两行：HAL_Init 顺手把 SysTick 时基调好；SystemClock_Config 由 CubeMX 生成——把 M/N/P 写进结构体，两个 HAL_RCC 函数落到底层还是那组 RCC 寄存器。注意 FLASH_LATENCY_5 是 HAL 帮你盯的坑。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获得之迹最容易被忽略：读 CFGR 的 SWS 位知道在用谁，再按公式把 PLLCFGR 里的 M/N/P 反算成真实频率。三个验证手段：代码读回、LED 变频、MCO 引脚上示波器。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按老师 03 课件 P26 的定义复述：SysTick 是 24 位倒计时定时器，每时钟减一，过零自动重载，写 VAL 即清零。三个寄存器 CTRL/LOAD/VAL。滴答时长就一个公式 T=(LOAD+1)/f，1ms 对应 168000（HCLK 直连）或 21000（HCLK÷8）。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 的 STD 做法：Init 时把『1us 要数几个』存成系数 fac_us=21（因为选了 HCLK÷8）。延时时装载 n×fac_us、清 VAL、开计数器，然后死等 COUNTFLAG。调用面只要 delay_ms(500)。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 把 SysTick 做成常开时基：HAL_Init 里就按 168M/1000 配好 1ms 滴答，每毫秒中断一次给 uwTick 加一。HAL_Delay 只记起点、等差值——所以还能反过来做超时判断。表格对比两法，落脚点：都是那颗递减到 0 的计数器。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把前八页收拢成一张图：上电取复位向量后，STD 走 SystemInit→SetSysClock，HAL 走 HAL_Init→SystemClock_Config，殊途同归于 168MHz；随后 STD 现装计数器轮询、HAL 常开滴答中断，最终都落到 delay_ms/HAL_Delay 的 while 循环里。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总结页对着表格讲：每个时钟说三件事——从哪来、到哪去、怎么用。重点落三句：变频改 PLL 参数；GPIO 速度看 HCLK；调试时钟用 MCO 上示波器。LSE 的 2^15 分频恰好 1Hz 是 RTC 的由来。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收尾三句话，回扣题目四问；提问环节可以从 S5 的变频实验或 S10 的对比表演示切入。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20240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" y="1609344"/>
            <a:ext cx="0" cy="310896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160934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1609344"/>
            <a:ext cx="0" cy="310896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1920240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192" y="1609344"/>
            <a:ext cx="0" cy="310896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6192" y="160934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5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 PPT（1）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26974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时钟之迹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914400" y="4041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从代码中追踪 STM32F407 的时钟：初始化、设置与获得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FB5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智装备 241　彭俊杰　2024306100324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FB5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例程参考：CH5EX01STD（标准外设库）/ CH5EX01HAL（硬件抽象库）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4919472"/>
            <a:ext cx="4754880" cy="0"/>
          </a:xfrm>
          <a:prstGeom prst="line">
            <a:avLst/>
          </a:prstGeom>
          <a:noFill/>
          <a:ln w="27940">
            <a:solidFill>
              <a:srgbClr val="0E7C6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作业题目 · 追踪路线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四问对应四站，代码为准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264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43000" y="14447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SYSCLK 等时钟的初始化、设置和获得之迹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43000" y="18288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 寄存器级 → 库函数 → HAL 三层代码逐级追踪（S4–S7）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3000" y="2286000"/>
            <a:ext cx="10515600" cy="0"/>
          </a:xfrm>
          <a:prstGeom prst="line">
            <a:avLst/>
          </a:prstGeom>
          <a:noFill/>
          <a:ln w="9525">
            <a:solidFill>
              <a:srgbClr val="DD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957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43000" y="241401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SysTick 滴答时长设置，Delay / HAL_Delay 的调用方法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2798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轮询 COUNTFLAG 法 vs 中断 uwTick 法（S8–S10）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3255264"/>
            <a:ext cx="10515600" cy="0"/>
          </a:xfrm>
          <a:prstGeom prst="line">
            <a:avLst/>
          </a:prstGeom>
          <a:noFill/>
          <a:ln w="9525">
            <a:solidFill>
              <a:srgbClr val="DDE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649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43000" y="33832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画出流程图说明上述过程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43000" y="37673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双库链路全景流程图（S11）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43000" y="4224528"/>
            <a:ext cx="10515600" cy="0"/>
          </a:xfrm>
          <a:prstGeom prst="line">
            <a:avLst/>
          </a:prstGeom>
          <a:noFill/>
          <a:ln w="9525">
            <a:solidFill>
              <a:srgbClr val="DDE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143000" y="43525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STM32 各时钟的原理以及应用的方法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43000" y="47365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六源四钟 + 应用方法一览（S12）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53212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EAF3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532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· 04 课件 P15–17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71800" y="553212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EAF3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5532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· 03 课件 P26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553212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EDF2F7"/>
          </a:solidFill>
          <a:ln w="12700">
            <a:solidFill>
              <a:srgbClr val="3D6E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55321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6E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例程 · CH5EX01STD / CH5EX01HAL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题目原文：①SYSCLK 等时钟的初始化、设置和获得之迹；②设置 SysTick 的滴答时长，调用 Delay 函数和 HAL_Delay 函数的方法；③画出流程图（伪代码也行）；④总结 STM32 微控制器各时钟的原理以及应用的方法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预备知识 · 时钟体系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SYSCLK 从哪来：公式、时钟树与三选一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17320"/>
            <a:ext cx="397764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SYSCLK = (HSE / M) × N / 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85800" y="2029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8M / 8 × 336 / 2 = 168 MHz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25420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HCLK 最大 168 MHz（AHB ÷1）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PCLK1 = APB1 最大 42 MHz，定时器 84 MHz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PCLK2 = APB2 最大 84 MHz，定时器 168 MHz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SYSCLK 三选一：HSI / HSE / PLLCLK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39776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6177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六个时钟源：HSE(4~26M) / LSE(32.768k) / HSI(16M) / LSI(32k) / IRC48M + 三个 PLL；MCO0/1 两路输出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GPIO 时钟来源就是 AHB1 提供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SysTick 时钟是 AHB 分频 8 倍或直接得到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ADC 的时钟由 APB2 提供</a:t>
            </a:r>
            <a:endParaRPr lang="en-US" sz="1200" dirty="0"/>
          </a:p>
        </p:txBody>
      </p:sp>
      <p:pic>
        <p:nvPicPr>
          <p:cNvPr id="19" name="Image 0" descr="../figs/fig_q5_clock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71600"/>
            <a:ext cx="6995160" cy="427939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709160" y="568756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图：STM32F40x 时钟树（5 路时钟源 → PLL → SYSCLK → 总线分级）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来源：《04--STM32芯片应用基础》教师版课件 slide 15–17（问题 4：时钟体系）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之迹① 初始化 · 标准库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上电后谁配的时钟：Reset_Handler → SystemInit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17320"/>
            <a:ext cx="6720840" cy="4800600"/>
          </a:xfrm>
          <a:prstGeom prst="roundRect">
            <a:avLst>
              <a:gd name="adj" fmla="val 1333"/>
            </a:avLst>
          </a:prstGeom>
          <a:solidFill>
            <a:srgbClr val="10262B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1527048"/>
            <a:ext cx="6391656" cy="458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startup_stm32f40_41xxx.s —— 复位入口（向量表第 1 项）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Reset_Handler   PROC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LDR     R0, =SystemInit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BLX     R0              ; 先配时钟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LDR     R0, =__main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BX      R0              ; 再进 C 库→main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system_stm32f4xx.c（CMSIS）—— SystemInit()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SystemInit(void)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RCC-&gt;CR |= (uint32_t)0x00000001;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开 HSI 兜底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RCC-&gt;CFGR = 0x00000000;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复位时钟配置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RCC-&gt;PLLCFGR = 0x24003010;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复位 PLL 参数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SetSysClock();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真正配置系统时钟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SCB-&gt;VTOR = FLASH_BASE | VECT_TAB_OFFSET;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SetSysClock() 内部（寄存器级五步）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RCC-&gt;CR |= RCC_CR_HSEON;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① 开 HSE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while(HSERDY==0);       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② 等就绪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RCC-&gt;CFGR |= HPRE_DIV1|PPRE2_DIV2|PPRE1_DIV4;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RCC-&gt;PLLCFGR = PLL_M|(PLL_N&lt;&lt;6)|(((PLL_P&gt;&gt;1)-1)&lt;&lt;16)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|RCC_PLLCFGR_PLLSRC_HSE|(PLL_Q&lt;&lt;24);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RCC-&gt;CR |= RCC_CR_PLLON;  while(!PLLRDY);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RCC-&gt;CFGR |= RCC_CFGR_SW_PLL;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③ 切 PLL 作 SYSCLK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while(SWS != PLL);      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④ 等切换完成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1600200"/>
            <a:ext cx="420624" cy="420624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1545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复位 RCC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1874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回到已知状态（HSI 16M 兜底）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2532888"/>
            <a:ext cx="420624" cy="420624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24780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 HSE 并等待就绪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2807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8M 晶振起振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3465576"/>
            <a:ext cx="420624" cy="420624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3816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设分频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38160" y="3739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AHB÷1 / APB1÷4 / APB2÷2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4398264"/>
            <a:ext cx="420624" cy="420624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3816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 PLL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38160" y="4672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M=8, N=336, P=2 → 168M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43800" y="5330952"/>
            <a:ext cx="420624" cy="420624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38160" y="5276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 SYSCLK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8160" y="5605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SW=PLL，等 SWS 确认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代码来源：CH5EX01STD 工程 startup_stm32f40_41xxx.s + Libraries/CMSIS/system_stm32f4xx.c（SetSysClock 摘要）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之迹① 设置 · 标准库应用层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RCC_HSE_Config：一行改 PLL，频率随参数走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17320"/>
            <a:ext cx="6720840" cy="4800600"/>
          </a:xfrm>
          <a:prstGeom prst="roundRect">
            <a:avLst>
              <a:gd name="adj" fmla="val 1333"/>
            </a:avLst>
          </a:prstGeom>
          <a:solidFill>
            <a:srgbClr val="10262B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1527048"/>
            <a:ext cx="6391656" cy="458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5-STM32时钟系统实验 User/main.c（标准库函数法）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RCC_HSE_Config(u32 pllm, u32 plln, u32 pllp, u32 pllq)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RCC_DeInit();          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寄存器恢复默认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RCC_HSEConfig(RCC_HSE_ON);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开 HSE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(RCC_WaitForHSEStartUp()==SUCCESS)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RCC_HCLKConfig(RCC_SYSCLK_Div1);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HCLK  = SYSCLK/1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RCC_PCLK2Config(RCC_HCLK_Div2);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PCLK2 = HCLK/2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RCC_PCLK1Config(RCC_HCLK_Div4);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PCLK1 = HCLK/4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RCC_PLLConfig(RCC_PLLSource_HSE,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pllm, plln, pllp, pllq);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RCC_PLLCmd(ENABLE);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while(RCC_GetFlagStatus(RCC_FLAG_PLLRDY)==RESET);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RCC_SYSCLKConfig(RCC_SYSCLKSource_PLLCLK);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while(RCC_GetSYSCLKSource()!=0x08);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0x08=PLL 已当选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RCC_HSE_Config(8, 336, 2, 7);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168 MHz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                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LED 闪烁验证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1554480"/>
            <a:ext cx="416052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17556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同一棵树的两种写法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0" y="21488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寄存器级：RCC-&gt;CFGR / RCC-&gt;PLLCFGR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库函数级：RCC_xxxConfig() 一一封装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参数即公式：pllm/plln/pllp 对应 M·N·P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43800" y="4069080"/>
            <a:ext cx="4160520" cy="2148840"/>
          </a:xfrm>
          <a:prstGeom prst="roundRect">
            <a:avLst>
              <a:gd name="adj" fmla="val 2979"/>
            </a:avLst>
          </a:prstGeom>
          <a:solidFill>
            <a:srgbClr val="FDF6EA"/>
          </a:solidFill>
          <a:ln w="15240">
            <a:solidFill>
              <a:srgbClr val="E8A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2245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7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实验实证：改 P 变频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0" y="45720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RCC_HSE_Config(8,336,4,7) → 84 MHz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 闪烁间隔随之加倍，肉眼可辨——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『时钟被重新设置』的最直接证据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代码来源：普中 T100 例程『5-STM32时钟系统』main.c（与 CH5EX01STD 同源的标准库工程结构）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之迹① 初始化与设置 · HAL 库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的前两行：HAL_Init → SystemClock_Config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17320"/>
            <a:ext cx="6720840" cy="4800600"/>
          </a:xfrm>
          <a:prstGeom prst="roundRect">
            <a:avLst>
              <a:gd name="adj" fmla="val 1333"/>
            </a:avLst>
          </a:prstGeom>
          <a:solidFill>
            <a:srgbClr val="10262B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1527048"/>
            <a:ext cx="6391656" cy="458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CH5EX01HAL main.c（CubeMX 生成框架）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HAL_Init();  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① 初始化中断/SysTick 时基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SystemClock_Config();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② 配置系统时钟 168 MHz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MX_GPIO_Init();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(1) { ...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SystemClock_Config(void)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RCC_OscInitStruct.PLL.PLLSource = RCC_PLLSOURCE_HSE;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RCC_OscInitStruct.PLL.PLLM = 8;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8M ÷ 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RCC_OscInitStruct.PLL.PLLN = 336;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×336=VCO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RCC_OscInitStruct.PLL.PLLP = RCC_PLLP_DIV2;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÷2=168M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HAL_RCC_OscConfig(&amp;RCC_OscInitStruct);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振荡器+PLL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RCC_ClkInitStruct.SYSCLKSource = RCC_SYSCLKSOURCE_PLLCLK;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RCC_ClkInitStruct.AHBCLKDivider  = RCC_SYSCLK_DIV1;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RCC_ClkInitStruct.APB1CLKDivider = RCC_HCLK_DIV4;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RCC_ClkInitStruct.APB2CLKDivider = RCC_HCLK_DIV2;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HAL_RCC_ClockConfig(&amp;RCC_ClkInitStruct,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FLASH_LATENCY_5);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同时配 Flash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2587752"/>
            <a:ext cx="4160520" cy="0"/>
          </a:xfrm>
          <a:prstGeom prst="line">
            <a:avLst/>
          </a:prstGeom>
          <a:noFill/>
          <a:ln w="9525">
            <a:solidFill>
              <a:srgbClr val="DDE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5636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结构体→寄存器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190195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RCC_OscInitTypeDef / RCC_ClkInitTypeDef 两个字段组，对应 PLLCFGR 与 CFGR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43800" y="3758184"/>
            <a:ext cx="4160520" cy="0"/>
          </a:xfrm>
          <a:prstGeom prst="line">
            <a:avLst/>
          </a:prstGeom>
          <a:noFill/>
          <a:ln w="9525">
            <a:solidFill>
              <a:srgbClr val="DDE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73405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30723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HAL_RCC_OscConfig 管『源』，HAL_RCC_ClockConfig 管『分频+切换』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43800" y="4928616"/>
            <a:ext cx="4160520" cy="0"/>
          </a:xfrm>
          <a:prstGeom prst="line">
            <a:avLst/>
          </a:prstGeom>
          <a:noFill/>
          <a:ln w="9525">
            <a:solidFill>
              <a:srgbClr val="DDE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390448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多了一件事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24281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FLASH_LATENCY_5：168M 下 Flash 要 5 个等待周期，漏配会跑飞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43800" y="6099048"/>
            <a:ext cx="4160520" cy="0"/>
          </a:xfrm>
          <a:prstGeom prst="line">
            <a:avLst/>
          </a:prstGeom>
          <a:noFill/>
          <a:ln w="9525">
            <a:solidFill>
              <a:srgbClr val="DDE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50749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同源殊途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43800" y="541324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STD 的 SetSysClock 完全同构，只是把寄存器操作藏进 HAL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代码来源：ST 官方 STM32CubeF4 / stm32f4xx-hal-driver（CH5EX01HAL 采用的 HAL 框架，STM324xG_EVAL 同型工程）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之迹① 获得 · 读回验证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时钟不是配完就算：RCC_GetClocksFreq 反算实频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17320"/>
            <a:ext cx="6720840" cy="4206240"/>
          </a:xfrm>
          <a:prstGeom prst="roundRect">
            <a:avLst>
              <a:gd name="adj" fmla="val 1522"/>
            </a:avLst>
          </a:prstGeom>
          <a:solidFill>
            <a:srgbClr val="10262B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1527048"/>
            <a:ext cx="6391656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stm32f4xx_rcc.c —— 读寄存器反算当前各路频率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RCC_GetClocksFreq(RCC_ClocksTypeDef* RCC_Clocks)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tmp = RCC-&gt;CFGR &amp; RCC_CFGR_SWS;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现在谁在当 SYSCLK?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0x08:  /* PLL 作 SYSCLK */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pllm = RCC-&gt;PLLCFGR &amp; RCC_PLLCFGR_PLLM;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pllvco = (HSE_VALUE / pllm)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* ((RCC-&gt;PLLCFGR &amp; RCC_PLLCFGR_PLLN) &gt;&gt; 6);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pllp = (((RCC-&gt;PLLCFGR&amp; RCC_PLLCFGR_PLLP)&gt;&gt;16)+1)*2;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RCC_Clocks-&gt;SYSCLK_Frequency = pllvco / pllp;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168000000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使用（STD）                       // 使用（HAL）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RCC_GetClocksFreq(&amp;clk);               f = HAL_RCC_GetSysClockFreq();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SystemCoreClockUpdate();               h = HAL_RCC_GetHCLKFreq();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5760720"/>
            <a:ext cx="6720840" cy="502920"/>
          </a:xfrm>
          <a:prstGeom prst="roundRect">
            <a:avLst>
              <a:gd name="adj" fmla="val 9091"/>
            </a:avLst>
          </a:prstGeom>
          <a:solidFill>
            <a:srgbClr val="EAF3F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7607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本质：配置写寄存器，获得 = 读寄存器 + 按公式反算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43800" y="1554480"/>
            <a:ext cx="41605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0" y="16824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读回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0" y="20299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SWS 位看在用哪个源；PLLCFGR 反算频率（代码如左）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3108960"/>
            <a:ext cx="41605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32369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看灯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72400" y="35844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P=4 降频一半，LED 周期肉眼翻倍（5 页实验）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43800" y="4663440"/>
            <a:ext cx="41605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479145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772400" y="513892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MCO1(PA8) 输出 SYSCLK/2，示波器一量便知 84 MHz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代码来源：CH5EX01STD Libraries/STM32F4xx_StdPeriph_Driver/src/stm32f4xx_rcc.c（RCC_GetClocksFreq 摘要）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之迹② SysTick 滴答时长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位倒计时定时器：三个寄存器定节拍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pic>
        <p:nvPicPr>
          <p:cNvPr id="12" name="Image 0" descr="../figs/fig_ppt_syst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3832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15400" y="1417320"/>
            <a:ext cx="2834640" cy="3291840"/>
          </a:xfrm>
          <a:prstGeom prst="roundRect">
            <a:avLst>
              <a:gd name="adj" fmla="val 2258"/>
            </a:avLst>
          </a:prstGeom>
          <a:solidFill>
            <a:srgbClr val="10262B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079992" y="1527048"/>
            <a:ext cx="250545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core_cm4.h（CMSIS）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SysTick_Config(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ticks)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 = ticks-1;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  = 0;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CTRL = CLKSOURCE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| TICKINT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| ENABLE;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1ms 滴答：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ticks = 168M/1000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= 168000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937760"/>
            <a:ext cx="112928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5102352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滴答时长 T = (LOAD+1) / f　——f 取 HCLK(168M) 或 HCLK÷8(21M)，由 CTRL 的 CLKSOURCE 位选择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控制和状态 CTRL｜重载值 LOAD｜当前值 VAL：写过零自动重载、写入即清零（03 课件 P26）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依据：《03--Cortex-M4 内核体系结构》教师版课件 slide 26（系统定时器 SysTick 原文）；代码：CMSIS core_cm4.h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之迹② Delay · 标准库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delay_us/delay_ms：轮询 COUNTFLAG 的阻塞延时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17320"/>
            <a:ext cx="6720840" cy="4800600"/>
          </a:xfrm>
          <a:prstGeom prst="roundRect">
            <a:avLst>
              <a:gd name="adj" fmla="val 1333"/>
            </a:avLst>
          </a:prstGeom>
          <a:solidFill>
            <a:srgbClr val="10262B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1527048"/>
            <a:ext cx="6391656" cy="458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7-SysTick系统定时器实验 Public/SysTick.c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SysTick_Init(u8 SYSCLK)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 传 168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SysTick_CLKSourceConfig(SysTick_CLKSource_HCLK_Div8);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fac_us = SYSCLK/8;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21  → 1us 的计数次数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fac_ms = fac_us*1000;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21000 → 1ms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delay_us(u32 nus)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SysTick-&gt;LOAD = nus * fac_us;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装载计数值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SysTick-&gt;VAL  = 0x00;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写入即清零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SysTick-&gt;CTRL |= 0x01;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开始倒数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SysTick-&gt;CTRL;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while((temp&amp;0x01) &amp;&amp; !(temp&amp;(1&lt;&lt;16)));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↑使能位        ↑COUNTFLAG：数到 0 置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SysTick-&gt;CTRL &amp;= ~0x01;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关计数器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main.c —— 调用方法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SysTick_Init(168);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while(1){ LED1=0; delay_ms(500); LED1=1; delay_ms(500); 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1554480"/>
            <a:ext cx="416052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1737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滴答时长的设置方法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0" y="2121408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时钟选 HCLK÷8 = 21 MHz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1µs → LOAD = 21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1ms → fac_ms = 21000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delay_us(n) → LOAD = n×21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37947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位计数器上限 → 单次 ≤798 ms，delay_ms 用 540ms 分段凑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0" y="4663440"/>
            <a:ext cx="4160520" cy="1554480"/>
          </a:xfrm>
          <a:prstGeom prst="roundRect">
            <a:avLst>
              <a:gd name="adj" fmla="val 4118"/>
            </a:avLst>
          </a:prstGeom>
          <a:solidFill>
            <a:srgbClr val="ED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8006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E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为什么叫轮询法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51206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死等 CTRL 的第 16 位 COUNTFLAG 置 1——数到 0 硬件自动置位，不占用任何中断。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代码来源：普中 T100 例程『7-SysTick系统定时器』（与 CH5EX01STD 同源标准库工程）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之迹② HAL_Delay · 中断法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1ms 一滴答：SysTick_Handler 累加 uwTick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17320"/>
            <a:ext cx="6720840" cy="4800600"/>
          </a:xfrm>
          <a:prstGeom prst="roundRect">
            <a:avLst>
              <a:gd name="adj" fmla="val 1333"/>
            </a:avLst>
          </a:prstGeom>
          <a:solidFill>
            <a:srgbClr val="10262B"/>
          </a:solidFill>
          <a:ln/>
          <a:effectLst>
            <a:outerShdw sx="100000" sy="100000" kx="0" ky="0" algn="bl" rotWithShape="0" blurRad="88900" dist="25400" dir="2700000">
              <a:srgbClr val="0D1B1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1527048"/>
            <a:ext cx="6391656" cy="458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HAL_Init() 内部自动完成时基初始化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HAL_InitTick(TICK_INT_PRIORITY);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HAL_SYSTICK_Config(SystemCoreClock/(1000U/uwTickFreq));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↑ 168M/1000=168000 → 恰好 1ms 滴答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stm32f4xx_it.c —— 每 1ms 硬件自动进一次中断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SysTick_Handler(void)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HAL_IncTick();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uwTick += uwTickFreq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stm32f4xx_hal.c —— 延时 = 等滴答增量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__weak void HAL_Delay(uint32_t Delay)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tickstart = HAL_GetTick();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记起点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wait = Delay;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 += uwTickFreq;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补偿：保证最少延时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((HAL_GetTick() - tickstart) &lt; wait)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}                       </a:t>
            </a: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空转，等中断把 uwTick 加够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main.c —— 调用方法：HAL_Delay(500);   // 500ms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554480"/>
          <a:ext cx="41605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600200"/>
                <a:gridCol w="1600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Delay（STD 轮询）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E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HAL_Delay（HAL 中断）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E6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时基来源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每次现装 LOAD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1ms 滴答常开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E6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到点判据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 COUNTFLAG 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uwTick 差值比较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E6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中断占用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不占中断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1ms 进一次 ISR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E6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附带能力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仅延时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全局时基：超时/RTOS 可改写 __weak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543800" y="53949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两法同源：都靠 SysTick 递减到 0；差别只在『谁去看它到 0』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代码来源：ST 官方 stm32f4xx-hal-driver（stm32f4xx_hal.c / stm32f4xx_it.c，CH5EX01HAL 同框架）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之迹③ 流程图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从上电到延时：两条链路一图看全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pic>
        <p:nvPicPr>
          <p:cNvPr id="12" name="Image 0" descr="../figs/fig_ppt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10881360" cy="5010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说明：左侧为 CH5EX01STD（标准外设库）链路，右侧为 CH5EX01HAL（硬件抽象库）链路；两者在『配置 168MHz → 配滴答 → 延时』三段同构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之迹④ 原理与应用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六源四钟：每条时钟的来路、去处与用法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88752" y="932688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5056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5056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932688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10544" y="786384"/>
            <a:ext cx="0" cy="146304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0544" y="786384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017520"/>
                <a:gridCol w="2651760"/>
                <a:gridCol w="43708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 / 频率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 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应用方法（怎么用）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7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SYSCLK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三选一：HSI/HSE/PLL，最大 168 MHz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内核、总线基准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 M/N/P 变频；SystemCoreClock 变量读频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7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HCLK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SYSCLK ÷1 = 168 MHz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AHB、DMA、GPIO(AHB1)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GPIO 翻转速度由它定；SysTick 可选源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7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PCLK1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HCLK ÷4 = 42 MHz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APB1 外设（TIM2…）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APB1 定时器自动×2=84M；外设库开时钟 RCC_APB1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7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PCLK2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HCLK ÷2 = 84 MHz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APB2 外设（USART1/ADC）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ADC 时钟由 APB2 提供；定时器×2=168M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7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HSE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外部晶振 4~26 MHz（板上 8M）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 PLL 源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精度高作主时钟；失效可由 CSS 报警切 HSI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7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HSI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 RC 16 MHz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上电默认、PLL 备胎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不接晶振也能跑；省 BOM 但精度低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7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LSE / LSI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32.768k 晶振 / 内部 RC≈32k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RTC、IWDG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LSE 走 2^15 分频恰为 1Hz；LSI 喂独立看门狗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7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RTC/MCO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LSE/LSI/HSE÷32；MCO0/1 输出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日历 / 对外引脚 PA8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5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MCO 接示波器，验证真实时钟频率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依据：《04--STM32芯片应用基础》教师版课件 slide 15–17；实测口径与例程代码一致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8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4630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1280160"/>
            <a:ext cx="0" cy="27432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1280160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1280160"/>
            <a:ext cx="0" cy="27432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554480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6192" y="1280160"/>
            <a:ext cx="0" cy="27432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1280160"/>
            <a:ext cx="237744" cy="0"/>
          </a:xfrm>
          <a:prstGeom prst="line">
            <a:avLst/>
          </a:prstGeom>
          <a:noFill/>
          <a:ln w="30480">
            <a:solidFill>
              <a:srgbClr val="E8A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5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三句话带走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时钟之迹 = 写寄存器 → 读寄存器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4400" y="285292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B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初始化/设置落在一组 RCC 寄存器上，获得就是读回反算（SWS + PLLCFGR）。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滴答只有一个公式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14400" y="390448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B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(LOAD+1)/f；Delay 轮询 COUNTFLAG，HAL_Delay 等 uwTick，同源不同看法。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例程即教材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14400" y="495604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B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CH5EX01STD 与 CH5EX01HAL 两条链路对照，公式、数字与老师课件 P15–17 完全一致。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5806440"/>
            <a:ext cx="4754880" cy="0"/>
          </a:xfrm>
          <a:prstGeom prst="line">
            <a:avLst/>
          </a:prstGeom>
          <a:noFill/>
          <a:ln w="27940">
            <a:solidFill>
              <a:srgbClr val="0E7C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　·　智装备 241　彭俊杰　2024306100324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时钟之迹——STM32F407 时钟系统的初始化、设置与获得</dc:title>
  <dc:subject>PptxGenJS Presentation</dc:subject>
  <dc:creator>彭俊杰</dc:creator>
  <cp:lastModifiedBy>彭俊杰</cp:lastModifiedBy>
  <cp:revision>1</cp:revision>
  <dcterms:created xsi:type="dcterms:W3CDTF">2026-10-01T03:37:28Z</dcterms:created>
  <dcterms:modified xsi:type="dcterms:W3CDTF">2026-10-01T03:37:28Z</dcterms:modified>
</cp:coreProperties>
</file>