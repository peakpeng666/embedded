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1" r:id="rId4"/>
    <p:sldId id="262" r:id="rId5"/>
    <p:sldId id="263" r:id="rId6"/>
    <p:sldId id="266" r:id="rId7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5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围绕STM32F407ZGT6，按Set、Get、Config、Delay介绍系统时钟与软件延时，再对照各类时钟的用途。右侧1 ms是HAL默认时基周期。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标准库的startup_stm32f40xx.s先调用SystemInit，再进入__main和main；SystemInit内部的SetSysClock完成HSE、PLL、总线和Flash配置。HAL的SystemInit主要配置FPU和向量表，main先HAL_Init，再SystemClock_Config，后者分别调用HAL_RCC_OscConfig和HAL_RCC_ClockConfig；原HAL的M/N/P/Q为8/336/2/4，而标准库为25/336/2/7。Q=4使PLL48CLK达到84MHz，高于STM32F407数据手册75MHz上限，Q=7的48MHz仅为修改建议，本次工程源码保持原值；Flash 5WS条件为HCLK=168MHz且供电2.7–3.6V，电源配置Scale1。标准库若连接8MHz实际晶振，须同时令STM32F40_41xxx分支的HSE_VALUE=8000000和PLL_M=8，实际晶振未在板上确认。依据为CH5Ex01STD/UserMain/system_stm32f4xx.c第371、384、401–403、483–520、654–782行及CH5EX01HAL/Core/Src/main.c第70–82、120–163行；官方资料为https://www.st.com/resource/en/datasheet/stm32f407zg.pdf 的表36，以及https://www.st.com/resource/en/reference_manual/rm0090-stm32f405415-stm32f407417-stm32f427437-and-stm32f429439-advanced-armbased-32bit-mcus-stmicroelectronics.pdf 的表11。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RCC_GetClocksFreq在标准库main中被实际调用，四个结构成员分别保存SYSCLK、HCLK、PCLK1和PCLK2；HAL表格列出库提供的可用读取接口，原HAL main未调用这四个查询函数。HAL_RCC_GetSysClockFreq读取SWS和PLLCFGR并结合HSE_VALUE或HSI_VALUE计算，HAL_RCC_GetHCLKFreq直接返回SystemCoreClock，PCLK接口再按APB分频计算，返回单位均为Hz；168/168/42/84MHz为原配置和匹配晶振条件下的推算。HAL_RCC_ClockConfig在本例中通过HAL头文件的8MHz HSE宏同步SystemCoreClock，而系统文件Core/Src/system_stm32f4xx.c的独立默认HSE_VALUE仍为25MHz，uvprojx没有全局HSE_VALUE定义，因此直接调用该编译单元的SystemCoreClockUpdate前必须统一HSE宏，否则该函数会按25MHz反算；标准库系统文件与本例25MHz宏一致。HAL_GetTick返回uwTick的毫秒计数，源代码窗口和软件记录均不是频率实测，实测需要MCO输出及频率计或示波器，本次没有进行。依据为HAL驱动stm32f4xx_hal_rcc.c第885–968行和stm32f4xx_hal.c第323–326行，以及标准库stm32f4xx_rcc.c中RCC_GetClocksFreq实现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MSIS的SysTick_Config检查ticks减1能否装入24位LOAD，随后写LOAD=ticks−1、清VAL并设置CLKSOURCE、TICKINT和ENABLE，故本例实际C代码使用HCLK计数。标准库main调用SysTick_Config(RCC_Clocks.HCLK_Frequency/100)，在HCLK=168MHz下每次滴答为10ms，ticks=1680000、LOAD=1679999；HAL默认uwTickFreq=1，HAL_InitTick调用HAL_SYSTICK_Config(SystemCoreClock/(1000U/uwTickFreq))，默认周期1ms、LOAD=167999。HAL_Init第一次配置时基，HAL_RCC_ClockConfig换频并更新SystemCoreClock后再次调用HAL_InitTick；原ioc保存的RCC.Cortex_Div=HCLK_DIV8和21MHz配置标签与实际C调用链不同，正文以实际编译源码为准，没有用CubeMX树代替CMSIS实现。依据为标准库Usermain.c第48–49行、HAL stm32f4xx_hal.c第253–274行、stm32f4xx_hal_cortex.c的HAL_SYSTICK_Config，以及HAL Drivers/CMSIS/Include/core_cm4.h第2022–2035行；Arm官方说明见https://arm-software.github.io/CMSIS_5/Core/html/groupSysTickgr.html 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标准库的共享变量确实声明为static IO uint32_t uwTimingDelay，IO为volatile；Delay写入滴答数后忙等，而SysTick_Handler调用TimingDelay_Decrement使非零计数每10ms减1，因此Delay(10)约100ms，源码中的毫秒参数注释不能取代真实时基。HAL_Delay记录无符号起点计数，将wait加上uwTickFreq以保证最小等待，再循环判断无符号差值；SysTick_Handler调用HAL_IncTick，每1ms按uwTickFreq向uwTick累加，HAL_GetTick读取它，所以HAL_Delay(1000)约1s并可能因滴答边界和中断延迟稍有变化。流程图中的“是”分支回到条件判断，“否”分支返回，两种实现均阻塞主循环，关中断或在无法被SysTick抢占的中断中调用可导致持续等待，精密波形应由硬件TIM/PWM承担。依据为标准库Usermain.c第20、83–101行及stm32f4xx_it.c第142–145行，HAL stm32f4xx_hal.c第312–326、389–403行和stm32f4xx_it.c第184–189行。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表格说明STM32F407各时钟的原理及常见用途，并不表示本例启用了全部时钟或外设；对于STM32F407，APB分频为1时TIMCLK=PCLK，否则TIMCLK=2×PCLK，所以本例APB1和APB2定时器时钟分别为84MHz和168MHz。标准库每轮Delay(10)约100ms，Index每5轮满足一次取余条件，通常LED翻转间隔约500ms，完整亮灭周期约1s；HAL每轮HAL_Delay(1000)后翻转，间隔约1s，完整周期约2s，这些均为源码推算，未做板上波形或频率测量。Index为uint16_t，递增超过65535后回到0；65535与0均能被5整除，因此回卷处连续两轮满足翻转条件，相邻翻转约100ms，此处不能继续套用每次均500ms的结论。依据为标准库Usermain.c第24、61–74行和HAL main.c第97–113行；ST官方时钟说明为RM0090第7.2节，第218页，资料地址https://www.st.com/resource/en/reference_manual/rm0090-stm32f405415-stm32f407417-stm32f427437-and-stm32f429439-advanced-armbased-32bit-mcus-stmicroelectronics.pdf 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制作源文件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10/8/2026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制作源文件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10/8/2026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ditable 3"/>
          <p:cNvSpPr/>
          <p:nvPr/>
        </p:nvSpPr>
        <p:spPr>
          <a:xfrm>
            <a:off x="609600" y="1009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61747B"/>
            </a:solidFill>
          </a:ln>
        </p:spPr>
      </p:sp>
      <p:sp>
        <p:nvSpPr>
          <p:cNvPr id="4" name="Editable 4"/>
          <p:cNvSpPr txBox="1"/>
          <p:nvPr/>
        </p:nvSpPr>
        <p:spPr>
          <a:xfrm>
            <a:off x="609600" y="1733550"/>
            <a:ext cx="542925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400" b="1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时钟之迹</a:t>
            </a:r>
          </a:p>
        </p:txBody>
      </p:sp>
      <p:sp>
        <p:nvSpPr>
          <p:cNvPr id="5" name="Editable 5"/>
          <p:cNvSpPr txBox="1"/>
          <p:nvPr/>
        </p:nvSpPr>
        <p:spPr>
          <a:xfrm>
            <a:off x="638175" y="3019425"/>
            <a:ext cx="6953250" cy="619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00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STM32F407 时钟配置与软件延时</a:t>
            </a:r>
          </a:p>
        </p:txBody>
      </p:sp>
      <p:sp>
        <p:nvSpPr>
          <p:cNvPr id="6" name="Editable 6"/>
          <p:cNvSpPr txBox="1"/>
          <p:nvPr/>
        </p:nvSpPr>
        <p:spPr>
          <a:xfrm>
            <a:off x="638175" y="4076700"/>
            <a:ext cx="5715000" cy="904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475"/>
              </a:lnSpc>
            </a:pPr>
            <a:r>
              <a:rPr lang="zh-CN" sz="20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STM32F407ZGT6</a:t>
            </a:r>
            <a:br/>
            <a:r>
              <a:rPr lang="zh-CN" sz="20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Keil MDK / STM32CubeMX</a:t>
            </a:r>
          </a:p>
        </p:txBody>
      </p:sp>
      <p:sp>
        <p:nvSpPr>
          <p:cNvPr id="7" name="Editable 7"/>
          <p:cNvSpPr/>
          <p:nvPr/>
        </p:nvSpPr>
        <p:spPr>
          <a:xfrm>
            <a:off x="7524750" y="1762125"/>
            <a:ext cx="4057650" cy="9525"/>
          </a:xfrm>
          <a:custGeom>
            <a:avLst/>
            <a:gdLst/>
            <a:ahLst/>
            <a:cxnLst/>
            <a:rect l="l" t="t" r="r" b="b"/>
            <a:pathLst>
              <a:path w="4057650" h="9525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/>
          <a:ln w="9525">
            <a:solidFill>
              <a:srgbClr val="61747B"/>
            </a:solidFill>
          </a:ln>
        </p:spPr>
      </p:sp>
      <p:sp>
        <p:nvSpPr>
          <p:cNvPr id="8" name="Editable 8"/>
          <p:cNvSpPr txBox="1"/>
          <p:nvPr/>
        </p:nvSpPr>
        <p:spPr>
          <a:xfrm>
            <a:off x="7572375" y="1990725"/>
            <a:ext cx="2333625" cy="1381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168</a:t>
            </a:r>
          </a:p>
        </p:txBody>
      </p:sp>
      <p:sp>
        <p:nvSpPr>
          <p:cNvPr id="9" name="Editable 9"/>
          <p:cNvSpPr txBox="1"/>
          <p:nvPr/>
        </p:nvSpPr>
        <p:spPr>
          <a:xfrm>
            <a:off x="10020300" y="2552700"/>
            <a:ext cx="1238250" cy="619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MHz</a:t>
            </a:r>
          </a:p>
        </p:txBody>
      </p:sp>
      <p:sp>
        <p:nvSpPr>
          <p:cNvPr id="10" name="Editable 10"/>
          <p:cNvSpPr/>
          <p:nvPr/>
        </p:nvSpPr>
        <p:spPr>
          <a:xfrm>
            <a:off x="7524750" y="3352800"/>
            <a:ext cx="428625" cy="9525"/>
          </a:xfrm>
          <a:custGeom>
            <a:avLst/>
            <a:gdLst/>
            <a:ahLst/>
            <a:cxnLst/>
            <a:rect l="l" t="t" r="r" b="b"/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1" name="Editable 11"/>
          <p:cNvSpPr/>
          <p:nvPr/>
        </p:nvSpPr>
        <p:spPr>
          <a:xfrm>
            <a:off x="7953375" y="31623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2" name="Editable 12"/>
          <p:cNvSpPr/>
          <p:nvPr/>
        </p:nvSpPr>
        <p:spPr>
          <a:xfrm>
            <a:off x="7953375" y="31623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3" name="Editable 13"/>
          <p:cNvSpPr/>
          <p:nvPr/>
        </p:nvSpPr>
        <p:spPr>
          <a:xfrm>
            <a:off x="8334375" y="31623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4" name="Editable 14"/>
          <p:cNvSpPr/>
          <p:nvPr/>
        </p:nvSpPr>
        <p:spPr>
          <a:xfrm>
            <a:off x="8334375" y="3352800"/>
            <a:ext cx="3248025" cy="9525"/>
          </a:xfrm>
          <a:custGeom>
            <a:avLst/>
            <a:gdLst/>
            <a:ahLst/>
            <a:cxnLst/>
            <a:rect l="l" t="t" r="r" b="b"/>
            <a:pathLst>
              <a:path w="3248025" h="9525">
                <a:moveTo>
                  <a:pt x="0" y="0"/>
                </a:moveTo>
                <a:lnTo>
                  <a:pt x="3248025" y="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5" name="Editable 15"/>
          <p:cNvSpPr txBox="1"/>
          <p:nvPr/>
        </p:nvSpPr>
        <p:spPr>
          <a:xfrm>
            <a:off x="7581900" y="3648075"/>
            <a:ext cx="904875" cy="952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800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Editable 16"/>
          <p:cNvSpPr txBox="1"/>
          <p:nvPr/>
        </p:nvSpPr>
        <p:spPr>
          <a:xfrm>
            <a:off x="8477250" y="4038600"/>
            <a:ext cx="1047750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00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ms</a:t>
            </a:r>
          </a:p>
        </p:txBody>
      </p:sp>
      <p:sp>
        <p:nvSpPr>
          <p:cNvPr id="17" name="Editable 17"/>
          <p:cNvSpPr txBox="1"/>
          <p:nvPr/>
        </p:nvSpPr>
        <p:spPr>
          <a:xfrm>
            <a:off x="7591425" y="4562475"/>
            <a:ext cx="39909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18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HAL 时基周期</a:t>
            </a:r>
          </a:p>
          <a:p>
            <a:r>
              <a:rPr lang="zh-CN" sz="18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HAL_InitTick 配置</a:t>
            </a:r>
          </a:p>
        </p:txBody>
      </p:sp>
      <p:sp>
        <p:nvSpPr>
          <p:cNvPr id="18" name="Editable 18"/>
          <p:cNvSpPr/>
          <p:nvPr/>
        </p:nvSpPr>
        <p:spPr>
          <a:xfrm>
            <a:off x="609600" y="54102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61747B"/>
            </a:solidFill>
          </a:ln>
        </p:spPr>
      </p:sp>
      <p:sp>
        <p:nvSpPr>
          <p:cNvPr id="19" name="Editable 19"/>
          <p:cNvSpPr txBox="1"/>
          <p:nvPr/>
        </p:nvSpPr>
        <p:spPr>
          <a:xfrm>
            <a:off x="609600" y="5648325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2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01  Set</a:t>
            </a:r>
          </a:p>
        </p:txBody>
      </p:sp>
      <p:sp>
        <p:nvSpPr>
          <p:cNvPr id="20" name="Editable 20"/>
          <p:cNvSpPr txBox="1"/>
          <p:nvPr/>
        </p:nvSpPr>
        <p:spPr>
          <a:xfrm>
            <a:off x="3505200" y="5648325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2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02  Get</a:t>
            </a:r>
          </a:p>
        </p:txBody>
      </p:sp>
      <p:sp>
        <p:nvSpPr>
          <p:cNvPr id="21" name="Editable 21"/>
          <p:cNvSpPr txBox="1"/>
          <p:nvPr/>
        </p:nvSpPr>
        <p:spPr>
          <a:xfrm>
            <a:off x="6400800" y="5648325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2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03  Config</a:t>
            </a:r>
          </a:p>
        </p:txBody>
      </p:sp>
      <p:sp>
        <p:nvSpPr>
          <p:cNvPr id="22" name="Editable 22"/>
          <p:cNvSpPr txBox="1"/>
          <p:nvPr/>
        </p:nvSpPr>
        <p:spPr>
          <a:xfrm>
            <a:off x="9296400" y="5648325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2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04  Delay</a:t>
            </a:r>
          </a:p>
        </p:txBody>
      </p:sp>
      <p:sp>
        <p:nvSpPr>
          <p:cNvPr id="23" name="Editable 23"/>
          <p:cNvSpPr txBox="1"/>
          <p:nvPr/>
        </p:nvSpPr>
        <p:spPr>
          <a:xfrm>
            <a:off x="603504" y="6290310"/>
            <a:ext cx="28858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endParaRPr/>
          </a:p>
        </p:txBody>
      </p:sp>
      <p:sp>
        <p:nvSpPr>
          <p:cNvPr id="24" name="Editable 24"/>
          <p:cNvSpPr txBox="1"/>
          <p:nvPr/>
        </p:nvSpPr>
        <p:spPr>
          <a:xfrm>
            <a:off x="11035132" y="62903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12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en-US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Set</a:t>
            </a:r>
          </a:p>
        </p:txBody>
      </p:sp>
      <p:sp>
        <p:nvSpPr>
          <p:cNvPr id="3" name="Editable 3"/>
          <p:cNvSpPr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02 / 06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26574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C9D5D2"/>
            </a:solidFill>
          </a:ln>
        </p:spPr>
      </p:sp>
      <p:sp>
        <p:nvSpPr>
          <p:cNvPr id="7" name="Line 7"/>
          <p:cNvSpPr/>
          <p:nvPr/>
        </p:nvSpPr>
        <p:spPr>
          <a:xfrm>
            <a:off x="609600" y="26574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C9D5D2"/>
            </a:solidFill>
          </a:ln>
        </p:spPr>
      </p:sp>
      <p:sp>
        <p:nvSpPr>
          <p:cNvPr id="8" name="Line 8"/>
          <p:cNvSpPr/>
          <p:nvPr/>
        </p:nvSpPr>
        <p:spPr>
          <a:xfrm>
            <a:off x="609600" y="26574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C9D5D2"/>
            </a:solidFill>
          </a:ln>
        </p:spPr>
      </p:sp>
      <p:grpSp>
        <p:nvGrpSpPr>
          <p:cNvPr id="11" name="std-startup"/>
          <p:cNvGrpSpPr/>
          <p:nvPr/>
        </p:nvGrpSpPr>
        <p:grpSpPr>
          <a:xfrm>
            <a:off x="599440" y="1441450"/>
            <a:ext cx="7203231" cy="391160"/>
            <a:chOff x="599440" y="1441450"/>
            <a:chExt cx="7203231" cy="391160"/>
          </a:xfrm>
        </p:grpSpPr>
        <p:sp>
          <p:nvSpPr>
            <p:cNvPr id="9" name="TextBox 9"/>
            <p:cNvSpPr txBox="1"/>
            <p:nvPr/>
          </p:nvSpPr>
          <p:spPr>
            <a:xfrm>
              <a:off x="599440" y="1441450"/>
              <a:ext cx="513182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STD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5372" y="1475105"/>
              <a:ext cx="6477299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Reset → SystemInit() → SetSysClock() → __main → main()</a:t>
              </a:r>
            </a:p>
          </p:txBody>
        </p:sp>
      </p:grpSp>
      <p:grpSp>
        <p:nvGrpSpPr>
          <p:cNvPr id="16" name="hal-startup"/>
          <p:cNvGrpSpPr/>
          <p:nvPr/>
        </p:nvGrpSpPr>
        <p:grpSpPr>
          <a:xfrm>
            <a:off x="599440" y="1879600"/>
            <a:ext cx="10933379" cy="660908"/>
            <a:chOff x="599440" y="1879600"/>
            <a:chExt cx="10933379" cy="660908"/>
          </a:xfrm>
        </p:grpSpPr>
        <p:sp>
          <p:nvSpPr>
            <p:cNvPr id="12" name="TextBox 12"/>
            <p:cNvSpPr txBox="1"/>
            <p:nvPr/>
          </p:nvSpPr>
          <p:spPr>
            <a:xfrm>
              <a:off x="599440" y="1879600"/>
              <a:ext cx="513182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HAL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5372" y="1913255"/>
              <a:ext cx="5479044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Reset → SystemInit（基础配置）→ __main → main()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5372" y="2227580"/>
              <a:ext cx="3990162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HAL_Init() → SystemClock_Config()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8372" y="2227580"/>
              <a:ext cx="5254447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HAL_RCC_OscConfig() → HAL_RCC_ClockConfig()</a:t>
              </a:r>
            </a:p>
          </p:txBody>
        </p:sp>
      </p:grpSp>
      <p:sp>
        <p:nvSpPr>
          <p:cNvPr id="17" name="Line 17"/>
          <p:cNvSpPr/>
          <p:nvPr/>
        </p:nvSpPr>
        <p:spPr>
          <a:xfrm>
            <a:off x="609600" y="26574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C9D5D2"/>
            </a:solidFill>
          </a:ln>
        </p:spPr>
      </p:sp>
      <p:grpSp>
        <p:nvGrpSpPr>
          <p:cNvPr id="27" name="pll-relations"/>
          <p:cNvGrpSpPr/>
          <p:nvPr/>
        </p:nvGrpSpPr>
        <p:grpSpPr>
          <a:xfrm>
            <a:off x="599440" y="2841625"/>
            <a:ext cx="3625850" cy="3413633"/>
            <a:chOff x="599440" y="2841625"/>
            <a:chExt cx="3625850" cy="3413633"/>
          </a:xfrm>
        </p:grpSpPr>
        <p:sp>
          <p:nvSpPr>
            <p:cNvPr id="18" name="TextBox 18"/>
            <p:cNvSpPr txBox="1"/>
            <p:nvPr/>
          </p:nvSpPr>
          <p:spPr>
            <a:xfrm>
              <a:off x="599440" y="2841625"/>
              <a:ext cx="2633269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fVCO = HSE ÷ M × 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0456" y="3225165"/>
              <a:ext cx="3197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HAL：8 ÷ 8 × 336 = 336 MHz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0456" y="3558540"/>
              <a:ext cx="34742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STD：25 ÷ 25 × 336 = 336 MHz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9440" y="3946525"/>
              <a:ext cx="3625850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SYSCLK = 336 ÷ 2 = 168 MHz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9440" y="4394200"/>
              <a:ext cx="1365301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PLLQ 支路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0456" y="4758690"/>
              <a:ext cx="339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原HAL Q=4：84 MHz &gt; 75 MHz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0456" y="5101590"/>
              <a:ext cx="34278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建议Q=7：48 MHz（STD原值）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0456" y="5568315"/>
              <a:ext cx="23312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STD改接8 MHz晶振：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1472" y="5942330"/>
              <a:ext cx="3270707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HSE_VALUE=8000000, PLL_M=8</a:t>
              </a:r>
            </a:p>
          </p:txBody>
        </p:sp>
      </p:grpSp>
      <p:grpSp>
        <p:nvGrpSpPr>
          <p:cNvPr id="29" name="set-proof"/>
          <p:cNvGrpSpPr/>
          <p:nvPr/>
        </p:nvGrpSpPr>
        <p:grpSpPr>
          <a:xfrm>
            <a:off x="4991100" y="2819400"/>
            <a:ext cx="6591300" cy="2293698"/>
            <a:chOff x="4991100" y="2819400"/>
            <a:chExt cx="6591300" cy="2293698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1100" y="2819400"/>
              <a:ext cx="6591300" cy="2293698"/>
            </a:xfrm>
            <a:prstGeom prst="rect">
              <a:avLst/>
            </a:prstGeom>
          </p:spPr>
        </p:pic>
      </p:grpSp>
      <p:grpSp>
        <p:nvGrpSpPr>
          <p:cNvPr id="33" name="bus-and-flash"/>
          <p:cNvGrpSpPr/>
          <p:nvPr/>
        </p:nvGrpSpPr>
        <p:grpSpPr>
          <a:xfrm>
            <a:off x="4981956" y="5320665"/>
            <a:ext cx="4953644" cy="1066419"/>
            <a:chOff x="4981956" y="5320665"/>
            <a:chExt cx="4953644" cy="1066419"/>
          </a:xfrm>
        </p:grpSpPr>
        <p:sp>
          <p:nvSpPr>
            <p:cNvPr id="30" name="TextBox 30"/>
            <p:cNvSpPr txBox="1"/>
            <p:nvPr/>
          </p:nvSpPr>
          <p:spPr>
            <a:xfrm>
              <a:off x="4981956" y="5320665"/>
              <a:ext cx="28581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AHB ÷1：HCLK = 168 MHz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81956" y="5663565"/>
              <a:ext cx="42231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APB1 ÷4：42 MHz；APB2 ÷2：84 MHz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81956" y="6035040"/>
              <a:ext cx="49536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168 MHz、2.7–3.6 V：Flash 5 WS，Scale 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4224"/>
              </a:lnSpc>
            </a:pPr>
            <a:r>
              <a:rPr lang="zh-CN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Get</a:t>
            </a:r>
          </a:p>
        </p:txBody>
      </p:sp>
      <p:sp>
        <p:nvSpPr>
          <p:cNvPr id="3" name="Editable 3"/>
          <p:cNvSpPr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84"/>
              </a:lnSpc>
            </a:pPr>
            <a:r>
              <a:rPr lang="zh-CN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03 / 06</a:t>
            </a:r>
          </a:p>
        </p:txBody>
      </p:sp>
      <p:graphicFrame>
        <p:nvGraphicFramePr>
          <p:cNvPr id="4" name="clock-read-table"/>
          <p:cNvGraphicFramePr>
            <a:graphicFrameLocks noGrp="1"/>
          </p:cNvGraphicFramePr>
          <p:nvPr/>
        </p:nvGraphicFramePr>
        <p:xfrm>
          <a:off x="609600" y="1381125"/>
          <a:ext cx="10972800" cy="20955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43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2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时钟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 结构成员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 可用读取接口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MHz（推算）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SYSCLK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SYSCLK_Frequency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HAL_RCC_GetSysClockFreq()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2100" b="0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168</a:t>
                      </a:r>
                    </a:p>
                  </a:txBody>
                  <a:tcPr marL="95250" marR="95250" marT="22860" marB="2286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HCLK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HCLK_Frequency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HAL_RCC_GetHCLKFreq()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2100" b="0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168</a:t>
                      </a:r>
                    </a:p>
                  </a:txBody>
                  <a:tcPr marL="95250" marR="95250" marT="22860" marB="2286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PCLK1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PCLK1_Frequency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HAL_RCC_GetPCLK1Freq()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2100" b="0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</a:t>
                      </a:r>
                    </a:p>
                  </a:txBody>
                  <a:tcPr marL="95250" marR="95250" marT="22860" marB="2286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PCLK2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PCLK2_Frequency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HAL_RCC_GetPCLK2Freq()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2100" b="0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</a:t>
                      </a:r>
                    </a:p>
                  </a:txBody>
                  <a:tcPr marL="95250" marR="95250" marT="22860" marB="2286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std-read-call"/>
          <p:cNvGrpSpPr/>
          <p:nvPr/>
        </p:nvGrpSpPr>
        <p:grpSpPr>
          <a:xfrm>
            <a:off x="601472" y="3618230"/>
            <a:ext cx="4500564" cy="312928"/>
            <a:chOff x="601472" y="3618230"/>
            <a:chExt cx="4500564" cy="312928"/>
          </a:xfrm>
        </p:grpSpPr>
        <p:sp>
          <p:nvSpPr>
            <p:cNvPr id="5" name="TextBox 5"/>
            <p:cNvSpPr txBox="1"/>
            <p:nvPr/>
          </p:nvSpPr>
          <p:spPr>
            <a:xfrm>
              <a:off x="601472" y="3618230"/>
              <a:ext cx="4500564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RCC_GetClocksFreq(&amp;RCC_Clocks); // Hz</a:t>
              </a:r>
            </a:p>
          </p:txBody>
        </p:sp>
      </p:grpSp>
      <p:grpSp>
        <p:nvGrpSpPr>
          <p:cNvPr id="8" name="get-proof"/>
          <p:cNvGrpSpPr/>
          <p:nvPr/>
        </p:nvGrpSpPr>
        <p:grpSpPr>
          <a:xfrm>
            <a:off x="609600" y="3895725"/>
            <a:ext cx="6477000" cy="2617459"/>
            <a:chOff x="609600" y="3895725"/>
            <a:chExt cx="6477000" cy="2617459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3895725"/>
              <a:ext cx="6477000" cy="2617459"/>
            </a:xfrm>
            <a:prstGeom prst="rect">
              <a:avLst/>
            </a:prstGeom>
          </p:spPr>
        </p:pic>
      </p:grpSp>
      <p:grpSp>
        <p:nvGrpSpPr>
          <p:cNvPr id="16" name="frequency-meanings"/>
          <p:cNvGrpSpPr/>
          <p:nvPr/>
        </p:nvGrpSpPr>
        <p:grpSpPr>
          <a:xfrm>
            <a:off x="7562215" y="3860800"/>
            <a:ext cx="3803640" cy="2613533"/>
            <a:chOff x="7562215" y="3860800"/>
            <a:chExt cx="3803640" cy="2613533"/>
          </a:xfrm>
        </p:grpSpPr>
        <p:sp>
          <p:nvSpPr>
            <p:cNvPr id="9" name="TextBox 9"/>
            <p:cNvSpPr txBox="1"/>
            <p:nvPr/>
          </p:nvSpPr>
          <p:spPr>
            <a:xfrm>
              <a:off x="7562215" y="3860800"/>
              <a:ext cx="1097280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频率信息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3231" y="4244340"/>
              <a:ext cx="27624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寄存器+HSE宏：计算频率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3231" y="4596765"/>
              <a:ext cx="38026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SystemCoreClock：HCLK软件记录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3231" y="4949190"/>
              <a:ext cx="28648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MCO+仪器：硬件实测频率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4247" y="5408930"/>
              <a:ext cx="3005938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读源 → 算SYSCLK → 总线分频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3231" y="5758815"/>
              <a:ext cx="33485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改频后，同步HSE宏与软件记录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4247" y="6161405"/>
              <a:ext cx="2913786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HAL_GetTick()：返回ms计数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en-US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Config</a:t>
            </a:r>
          </a:p>
        </p:txBody>
      </p:sp>
      <p:sp>
        <p:nvSpPr>
          <p:cNvPr id="3" name="Editable 3"/>
          <p:cNvSpPr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04 / 06</a:t>
            </a:r>
          </a:p>
        </p:txBody>
      </p:sp>
      <p:grpSp>
        <p:nvGrpSpPr>
          <p:cNvPr id="8" name="tick-equation"/>
          <p:cNvGrpSpPr/>
          <p:nvPr/>
        </p:nvGrpSpPr>
        <p:grpSpPr>
          <a:xfrm>
            <a:off x="599440" y="1431925"/>
            <a:ext cx="7062241" cy="773684"/>
            <a:chOff x="599440" y="1431925"/>
            <a:chExt cx="7062241" cy="773684"/>
          </a:xfrm>
        </p:grpSpPr>
        <p:sp>
          <p:nvSpPr>
            <p:cNvPr id="6" name="TextBox 6"/>
            <p:cNvSpPr txBox="1"/>
            <p:nvPr/>
          </p:nvSpPr>
          <p:spPr>
            <a:xfrm>
              <a:off x="599440" y="1431925"/>
              <a:ext cx="6111240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dirty="0">
                  <a:solidFill>
                    <a:srgbClr val="167D8D"/>
                  </a:solidFill>
                  <a:latin typeface="Consolas"/>
                  <a:ea typeface="Microsoft YaHei"/>
                  <a:cs typeface="Consolas"/>
                </a:rPr>
                <a:t>T = (LOAD + 1) / fSysTick = ticks / HCLK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1853565"/>
              <a:ext cx="7061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24位递减计数；本例CLKSOURCE=1取HCLK，置0时可取HCLK/8。</a:t>
              </a:r>
            </a:p>
          </p:txBody>
        </p:sp>
      </p:grpSp>
      <p:graphicFrame>
        <p:nvGraphicFramePr>
          <p:cNvPr id="9" name="tick-comparison"/>
          <p:cNvGraphicFramePr>
            <a:graphicFrameLocks noGrp="1"/>
          </p:cNvGraphicFramePr>
          <p:nvPr/>
        </p:nvGraphicFramePr>
        <p:xfrm>
          <a:off x="609600" y="2266950"/>
          <a:ext cx="10972800" cy="13811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HCLK = 168 MHz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D66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 · 10 ms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 · 默认1 ms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ticks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1 680 000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168 000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LOAD = ticks − 1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1 679 999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167 999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7" name="tick-calls"/>
          <p:cNvGrpSpPr/>
          <p:nvPr/>
        </p:nvGrpSpPr>
        <p:grpSpPr>
          <a:xfrm>
            <a:off x="599440" y="3879850"/>
            <a:ext cx="4018178" cy="2165858"/>
            <a:chOff x="599440" y="3879850"/>
            <a:chExt cx="4018178" cy="2165858"/>
          </a:xfrm>
        </p:grpSpPr>
        <p:sp>
          <p:nvSpPr>
            <p:cNvPr id="10" name="TextBox 10"/>
            <p:cNvSpPr txBox="1"/>
            <p:nvPr/>
          </p:nvSpPr>
          <p:spPr>
            <a:xfrm>
              <a:off x="599440" y="3879850"/>
              <a:ext cx="513182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STD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472" y="4256405"/>
              <a:ext cx="1816452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SysTick_Config(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1472" y="4532630"/>
              <a:ext cx="4016146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RCC_Clocks.HCLK_Frequency / 100);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440" y="4822825"/>
              <a:ext cx="1939683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HAL_InitTick()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472" y="5199380"/>
              <a:ext cx="2354694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HAL_SYSTICK_Config(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472" y="5466080"/>
              <a:ext cx="2052970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SystemCoreClock /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1472" y="5732780"/>
              <a:ext cx="2662733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(1000U / uwTickFreq));</a:t>
              </a:r>
            </a:p>
          </p:txBody>
        </p:sp>
      </p:grpSp>
      <p:grpSp>
        <p:nvGrpSpPr>
          <p:cNvPr id="19" name="config-proof"/>
          <p:cNvGrpSpPr/>
          <p:nvPr/>
        </p:nvGrpSpPr>
        <p:grpSpPr>
          <a:xfrm>
            <a:off x="4991100" y="3838575"/>
            <a:ext cx="6591300" cy="2353220"/>
            <a:chOff x="4991100" y="3838575"/>
            <a:chExt cx="6591300" cy="2353220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1100" y="3838575"/>
              <a:ext cx="6591300" cy="2353220"/>
            </a:xfrm>
            <a:prstGeom prst="rect">
              <a:avLst/>
            </a:prstGeom>
          </p:spPr>
        </p:pic>
      </p:grpSp>
      <p:grpSp>
        <p:nvGrpSpPr>
          <p:cNvPr id="22" name="tick-reconfigure"/>
          <p:cNvGrpSpPr/>
          <p:nvPr/>
        </p:nvGrpSpPr>
        <p:grpSpPr>
          <a:xfrm>
            <a:off x="600456" y="5958840"/>
            <a:ext cx="7140753" cy="629793"/>
            <a:chOff x="600456" y="5958840"/>
            <a:chExt cx="7140753" cy="629793"/>
          </a:xfrm>
        </p:grpSpPr>
        <p:sp>
          <p:nvSpPr>
            <p:cNvPr id="20" name="TextBox 20"/>
            <p:cNvSpPr txBox="1"/>
            <p:nvPr/>
          </p:nvSpPr>
          <p:spPr>
            <a:xfrm>
              <a:off x="600456" y="5958840"/>
              <a:ext cx="43405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HAL_Init / 换频后重配，uwTickFreq=1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1472" y="6275705"/>
              <a:ext cx="7139737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校验24位范围 → LOAD=ticks−1 → VAL=0 → 使能时钟/中断 → 周期重装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en-US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Delay</a:t>
            </a:r>
          </a:p>
        </p:txBody>
      </p:sp>
      <p:sp>
        <p:nvSpPr>
          <p:cNvPr id="3" name="Editable 3"/>
          <p:cNvSpPr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05 / 06</a:t>
            </a:r>
          </a:p>
        </p:txBody>
      </p:sp>
      <p:grpSp>
        <p:nvGrpSpPr>
          <p:cNvPr id="12" name="std-delay-code"/>
          <p:cNvGrpSpPr/>
          <p:nvPr/>
        </p:nvGrpSpPr>
        <p:grpSpPr>
          <a:xfrm>
            <a:off x="599440" y="1441450"/>
            <a:ext cx="5267960" cy="1527683"/>
            <a:chOff x="599440" y="1441450"/>
            <a:chExt cx="5267960" cy="1527683"/>
          </a:xfrm>
        </p:grpSpPr>
        <p:sp>
          <p:nvSpPr>
            <p:cNvPr id="6" name="TextBox 6"/>
            <p:cNvSpPr txBox="1"/>
            <p:nvPr/>
          </p:nvSpPr>
          <p:spPr>
            <a:xfrm>
              <a:off x="599440" y="1441450"/>
              <a:ext cx="3373913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STD · Delay(10) ≈100 ms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857375"/>
              <a:ext cx="5257800" cy="1104900"/>
            </a:xfrm>
            <a:prstGeom prst="roundRect">
              <a:avLst>
                <a:gd name="adj" fmla="val 3448"/>
              </a:avLst>
            </a:prstGeom>
            <a:solidFill>
              <a:srgbClr val="14313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3872" y="1941830"/>
              <a:ext cx="4198659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static __IO uint32_t uwTimingDelay;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3872" y="2179955"/>
              <a:ext cx="2165880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uwTimingDelay = n;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3872" y="2418080"/>
              <a:ext cx="3234944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while (uwTimingDelay != 0);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3872" y="2656205"/>
              <a:ext cx="2172777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// __IO = volatile</a:t>
              </a:r>
            </a:p>
          </p:txBody>
        </p:sp>
      </p:grpSp>
      <p:grpSp>
        <p:nvGrpSpPr>
          <p:cNvPr id="19" name="hal-delay-code"/>
          <p:cNvGrpSpPr/>
          <p:nvPr/>
        </p:nvGrpSpPr>
        <p:grpSpPr>
          <a:xfrm>
            <a:off x="6314440" y="1441450"/>
            <a:ext cx="5267960" cy="1527683"/>
            <a:chOff x="6314440" y="1441450"/>
            <a:chExt cx="5267960" cy="1527683"/>
          </a:xfrm>
        </p:grpSpPr>
        <p:sp>
          <p:nvSpPr>
            <p:cNvPr id="13" name="TextBox 13"/>
            <p:cNvSpPr txBox="1"/>
            <p:nvPr/>
          </p:nvSpPr>
          <p:spPr>
            <a:xfrm>
              <a:off x="6314440" y="1441450"/>
              <a:ext cx="3831396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HAL · HAL_Delay(1000) ≈1 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324600" y="1857375"/>
              <a:ext cx="5257800" cy="1104900"/>
            </a:xfrm>
            <a:prstGeom prst="roundRect">
              <a:avLst>
                <a:gd name="adj" fmla="val 3448"/>
              </a:avLst>
            </a:prstGeom>
            <a:solidFill>
              <a:srgbClr val="14313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68872" y="1941830"/>
              <a:ext cx="3860800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start=HAL_GetTick(); wait=Delay;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8872" y="2179955"/>
              <a:ext cx="2840760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if (wait&lt;HAL_MAX_DELAY)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8872" y="2418080"/>
              <a:ext cx="2285303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wait += uwTickFreq;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8872" y="2656205"/>
              <a:ext cx="3971722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while (HAL_GetTick()-start&lt;wait);</a:t>
              </a:r>
            </a:p>
          </p:txBody>
        </p:sp>
      </p:grpSp>
      <p:grpSp>
        <p:nvGrpSpPr>
          <p:cNvPr id="21" name="std-interrupt"/>
          <p:cNvGrpSpPr/>
          <p:nvPr/>
        </p:nvGrpSpPr>
        <p:grpSpPr>
          <a:xfrm>
            <a:off x="601472" y="3103880"/>
            <a:ext cx="4528302" cy="312928"/>
            <a:chOff x="601472" y="3103880"/>
            <a:chExt cx="4528302" cy="312928"/>
          </a:xfrm>
        </p:grpSpPr>
        <p:sp>
          <p:nvSpPr>
            <p:cNvPr id="20" name="TextBox 20"/>
            <p:cNvSpPr txBox="1"/>
            <p:nvPr/>
          </p:nvSpPr>
          <p:spPr>
            <a:xfrm>
              <a:off x="601472" y="3103880"/>
              <a:ext cx="4528302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10 ms中断：TimingDelay_Decrement非零减1</a:t>
              </a:r>
            </a:p>
          </p:txBody>
        </p:sp>
      </p:grpSp>
      <p:grpSp>
        <p:nvGrpSpPr>
          <p:cNvPr id="23" name="hal-interrupt"/>
          <p:cNvGrpSpPr/>
          <p:nvPr/>
        </p:nvGrpSpPr>
        <p:grpSpPr>
          <a:xfrm>
            <a:off x="6315456" y="3082290"/>
            <a:ext cx="3928720" cy="352044"/>
            <a:chOff x="6315456" y="3082290"/>
            <a:chExt cx="3928720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6315456" y="3082290"/>
              <a:ext cx="3928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1 ms中断：HAL_IncTick累加uwTick</a:t>
              </a:r>
            </a:p>
          </p:txBody>
        </p:sp>
      </p:grpSp>
      <p:grpSp>
        <p:nvGrpSpPr>
          <p:cNvPr id="25" name="delay-std-proof"/>
          <p:cNvGrpSpPr/>
          <p:nvPr/>
        </p:nvGrpSpPr>
        <p:grpSpPr>
          <a:xfrm>
            <a:off x="609600" y="3409950"/>
            <a:ext cx="5257800" cy="1732547"/>
            <a:chOff x="609600" y="3409950"/>
            <a:chExt cx="5257800" cy="1732547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3409950"/>
              <a:ext cx="5257800" cy="1732547"/>
            </a:xfrm>
            <a:prstGeom prst="rect">
              <a:avLst/>
            </a:prstGeom>
          </p:spPr>
        </p:pic>
      </p:grpSp>
      <p:grpSp>
        <p:nvGrpSpPr>
          <p:cNvPr id="27" name="delay-hal-proof"/>
          <p:cNvGrpSpPr/>
          <p:nvPr/>
        </p:nvGrpSpPr>
        <p:grpSpPr>
          <a:xfrm>
            <a:off x="6324600" y="3409950"/>
            <a:ext cx="5257800" cy="1187790"/>
            <a:chOff x="6324600" y="3409950"/>
            <a:chExt cx="5257800" cy="118779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24600" y="3409950"/>
              <a:ext cx="5257800" cy="1187790"/>
            </a:xfrm>
            <a:prstGeom prst="rect">
              <a:avLst/>
            </a:prstGeom>
          </p:spPr>
        </p:pic>
      </p:grpSp>
      <p:grpSp>
        <p:nvGrpSpPr>
          <p:cNvPr id="42" name="std-wait-flow"/>
          <p:cNvGrpSpPr/>
          <p:nvPr/>
        </p:nvGrpSpPr>
        <p:grpSpPr>
          <a:xfrm>
            <a:off x="609600" y="5200650"/>
            <a:ext cx="5257800" cy="762000"/>
            <a:chOff x="609600" y="5200650"/>
            <a:chExt cx="5257800" cy="762000"/>
          </a:xfrm>
        </p:grpSpPr>
        <p:sp>
          <p:nvSpPr>
            <p:cNvPr id="28" name="Rectangle 28"/>
            <p:cNvSpPr/>
            <p:nvPr/>
          </p:nvSpPr>
          <p:spPr>
            <a:xfrm>
              <a:off x="609600" y="5381625"/>
              <a:ext cx="1447800" cy="495300"/>
            </a:xfrm>
            <a:prstGeom prst="roundRect">
              <a:avLst>
                <a:gd name="adj" fmla="val 9615"/>
              </a:avLst>
            </a:prstGeom>
            <a:solidFill>
              <a:srgbClr val="E8EEE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15403" y="5501640"/>
              <a:ext cx="6361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赋值n</a:t>
              </a:r>
            </a:p>
          </p:txBody>
        </p:sp>
        <p:sp>
          <p:nvSpPr>
            <p:cNvPr id="30" name="Polygon 30"/>
            <p:cNvSpPr/>
            <p:nvPr/>
          </p:nvSpPr>
          <p:spPr>
            <a:xfrm>
              <a:off x="2714625" y="5295900"/>
              <a:ext cx="1733550" cy="666750"/>
            </a:xfrm>
            <a:custGeom>
              <a:avLst/>
              <a:gdLst/>
              <a:ahLst/>
              <a:cxnLst/>
              <a:rect l="l" t="t" r="r" b="b"/>
              <a:pathLst>
                <a:path w="1733550" h="666750">
                  <a:moveTo>
                    <a:pt x="866775" y="0"/>
                  </a:moveTo>
                  <a:lnTo>
                    <a:pt x="1733550" y="333375"/>
                  </a:lnTo>
                  <a:lnTo>
                    <a:pt x="86677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E8EEEB"/>
            </a:solidFill>
            <a:ln w="19050">
              <a:solidFill>
                <a:srgbClr val="167D8D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075508" y="5511165"/>
              <a:ext cx="10117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计数≠0？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876800" y="5381625"/>
              <a:ext cx="990600" cy="495300"/>
            </a:xfrm>
            <a:prstGeom prst="roundRect">
              <a:avLst>
                <a:gd name="adj" fmla="val 9615"/>
              </a:avLst>
            </a:prstGeom>
            <a:solidFill>
              <a:srgbClr val="167D8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120640" y="5501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5F6F2"/>
                  </a:solidFill>
                  <a:latin typeface="Microsoft YaHei"/>
                  <a:ea typeface="Microsoft YaHei"/>
                  <a:cs typeface="Microsoft YaHei"/>
                </a:rPr>
                <a:t>返回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057400" y="5629275"/>
              <a:ext cx="657225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35" name="Line 35"/>
            <p:cNvSpPr/>
            <p:nvPr/>
          </p:nvSpPr>
          <p:spPr>
            <a:xfrm>
              <a:off x="4448175" y="5629275"/>
              <a:ext cx="428625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03801" y="5351780"/>
              <a:ext cx="231648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否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3581400" y="520065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95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67D8D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2495550" y="5200650"/>
              <a:ext cx="1085850" cy="9525"/>
            </a:xfrm>
            <a:custGeom>
              <a:avLst/>
              <a:gdLst/>
              <a:ahLst/>
              <a:cxnLst/>
              <a:rect l="l" t="t" r="r" b="b"/>
              <a:pathLst>
                <a:path w="1085850" h="9525">
                  <a:moveTo>
                    <a:pt x="10858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67D8D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2495550" y="5200650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9050">
              <a:solidFill>
                <a:srgbClr val="167D8D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2495550" y="5629275"/>
              <a:ext cx="219075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189226" y="5266055"/>
              <a:ext cx="231648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是</a:t>
              </a:r>
            </a:p>
          </p:txBody>
        </p:sp>
      </p:grpSp>
      <p:grpSp>
        <p:nvGrpSpPr>
          <p:cNvPr id="57" name="hal-wait-flow"/>
          <p:cNvGrpSpPr/>
          <p:nvPr/>
        </p:nvGrpSpPr>
        <p:grpSpPr>
          <a:xfrm>
            <a:off x="6324600" y="5200650"/>
            <a:ext cx="5257800" cy="762000"/>
            <a:chOff x="6324600" y="5200650"/>
            <a:chExt cx="5257800" cy="762000"/>
          </a:xfrm>
        </p:grpSpPr>
        <p:sp>
          <p:nvSpPr>
            <p:cNvPr id="43" name="Rectangle 43"/>
            <p:cNvSpPr/>
            <p:nvPr/>
          </p:nvSpPr>
          <p:spPr>
            <a:xfrm>
              <a:off x="6324600" y="5381625"/>
              <a:ext cx="1447800" cy="495300"/>
            </a:xfrm>
            <a:prstGeom prst="roundRect">
              <a:avLst>
                <a:gd name="adj" fmla="val 9615"/>
              </a:avLst>
            </a:prstGeom>
            <a:solidFill>
              <a:srgbClr val="E8EEE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4724" y="55016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记下起点</a:t>
              </a:r>
            </a:p>
          </p:txBody>
        </p:sp>
        <p:sp>
          <p:nvSpPr>
            <p:cNvPr id="45" name="Polygon 45"/>
            <p:cNvSpPr/>
            <p:nvPr/>
          </p:nvSpPr>
          <p:spPr>
            <a:xfrm>
              <a:off x="8429625" y="5295900"/>
              <a:ext cx="1733550" cy="666750"/>
            </a:xfrm>
            <a:custGeom>
              <a:avLst/>
              <a:gdLst/>
              <a:ahLst/>
              <a:cxnLst/>
              <a:rect l="l" t="t" r="r" b="b"/>
              <a:pathLst>
                <a:path w="1733550" h="666750">
                  <a:moveTo>
                    <a:pt x="866775" y="0"/>
                  </a:moveTo>
                  <a:lnTo>
                    <a:pt x="1733550" y="333375"/>
                  </a:lnTo>
                  <a:lnTo>
                    <a:pt x="86677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E8EEEB"/>
            </a:solidFill>
            <a:ln w="19050">
              <a:solidFill>
                <a:srgbClr val="167D8D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717483" y="5532755"/>
              <a:ext cx="1157834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差值&lt;wait?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591800" y="5381625"/>
              <a:ext cx="990600" cy="495300"/>
            </a:xfrm>
            <a:prstGeom prst="roundRect">
              <a:avLst>
                <a:gd name="adj" fmla="val 9615"/>
              </a:avLst>
            </a:prstGeom>
            <a:solidFill>
              <a:srgbClr val="167D8D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835640" y="5501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5F6F2"/>
                  </a:solidFill>
                  <a:latin typeface="Microsoft YaHei"/>
                  <a:ea typeface="Microsoft YaHei"/>
                  <a:cs typeface="Microsoft YaHei"/>
                </a:rPr>
                <a:t>返回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7772400" y="5629275"/>
              <a:ext cx="657225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50" name="Line 50"/>
            <p:cNvSpPr/>
            <p:nvPr/>
          </p:nvSpPr>
          <p:spPr>
            <a:xfrm>
              <a:off x="10163175" y="5629275"/>
              <a:ext cx="428625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218801" y="5351780"/>
              <a:ext cx="231648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否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9296400" y="520065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95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67D8D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8210550" y="5200650"/>
              <a:ext cx="1085850" cy="9525"/>
            </a:xfrm>
            <a:custGeom>
              <a:avLst/>
              <a:gdLst/>
              <a:ahLst/>
              <a:cxnLst/>
              <a:rect l="l" t="t" r="r" b="b"/>
              <a:pathLst>
                <a:path w="1085850" h="9525">
                  <a:moveTo>
                    <a:pt x="10858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67D8D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8210550" y="5200650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9050">
              <a:solidFill>
                <a:srgbClr val="167D8D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8210550" y="5629275"/>
              <a:ext cx="219075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904226" y="5266055"/>
              <a:ext cx="231648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是</a:t>
              </a:r>
            </a:p>
          </p:txBody>
        </p:sp>
      </p:grpSp>
      <p:grpSp>
        <p:nvGrpSpPr>
          <p:cNvPr id="59" name="blocking-meaning"/>
          <p:cNvGrpSpPr/>
          <p:nvPr/>
        </p:nvGrpSpPr>
        <p:grpSpPr>
          <a:xfrm>
            <a:off x="600456" y="6196965"/>
            <a:ext cx="7530084" cy="352044"/>
            <a:chOff x="600456" y="6196965"/>
            <a:chExt cx="7530084" cy="352044"/>
          </a:xfrm>
        </p:grpSpPr>
        <p:sp>
          <p:nvSpPr>
            <p:cNvPr id="58" name="TextBox 58"/>
            <p:cNvSpPr txBox="1"/>
            <p:nvPr/>
          </p:nvSpPr>
          <p:spPr>
            <a:xfrm>
              <a:off x="600456" y="6196965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主循环阻塞；计数由中断推进，屏蔽中断会停等。两者均非精密定时。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各时钟原理与应用</a:t>
            </a:r>
          </a:p>
        </p:txBody>
      </p:sp>
      <p:sp>
        <p:nvSpPr>
          <p:cNvPr id="3" name="Editable 3"/>
          <p:cNvSpPr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06 / 06</a:t>
            </a:r>
          </a:p>
        </p:txBody>
      </p:sp>
      <p:graphicFrame>
        <p:nvGraphicFramePr>
          <p:cNvPr id="6" name="clock-principles"/>
          <p:cNvGraphicFramePr>
            <a:graphicFrameLocks noGrp="1"/>
          </p:cNvGraphicFramePr>
          <p:nvPr/>
        </p:nvGraphicFramePr>
        <p:xfrm>
          <a:off x="609600" y="1381125"/>
          <a:ext cx="6334125" cy="46672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时钟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原理与应用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HSI 16 MHz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内部RC；复位启动、故障后备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HSE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外部晶振/时钟；PLL基准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PLL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先分频再倍频；合成高速时钟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SYSCLK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选HSI/HSE/PLL；系统主时钟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HCLK / PCLK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总线分频；CPU、AHB/APB外设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LSE 32.768 kHz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外部低速晶振；RTC日历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LSI ≈32 kHz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内部低速RC；IWDG、RTC备用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SysTick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24位递减；软件节拍、阻塞延时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TIM / PWM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APB÷1时TIM=PCLK；其余2×PCLK</a:t>
                      </a:r>
                    </a:p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硬件定时/PWM；本例84/168 MHz</a:t>
                      </a:r>
                    </a:p>
                  </a:txBody>
                  <a:tcPr marL="95250" marR="95250" marT="0" marB="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外设门控</a:t>
                      </a:r>
                    </a:p>
                  </a:txBody>
                  <a:tcPr marL="95250" marR="95250" marT="25717" marB="25717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RCC使能位；外设访问及节能</a:t>
                      </a:r>
                    </a:p>
                  </a:txBody>
                  <a:tcPr marL="95250" marR="95250" marT="25717" marB="25717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9" name="gpio-gating-example"/>
          <p:cNvGrpSpPr/>
          <p:nvPr/>
        </p:nvGrpSpPr>
        <p:grpSpPr>
          <a:xfrm>
            <a:off x="609600" y="6191250"/>
            <a:ext cx="6334125" cy="378333"/>
            <a:chOff x="609600" y="6191250"/>
            <a:chExt cx="6334125" cy="378333"/>
          </a:xfrm>
        </p:grpSpPr>
        <p:sp>
          <p:nvSpPr>
            <p:cNvPr id="7" name="Rectangle 7"/>
            <p:cNvSpPr/>
            <p:nvPr/>
          </p:nvSpPr>
          <p:spPr>
            <a:xfrm>
              <a:off x="609600" y="6191250"/>
              <a:ext cx="6334125" cy="323850"/>
            </a:xfrm>
            <a:prstGeom prst="roundRect">
              <a:avLst>
                <a:gd name="adj" fmla="val 8824"/>
              </a:avLst>
            </a:prstGeom>
            <a:solidFill>
              <a:srgbClr val="14313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3872" y="6256655"/>
              <a:ext cx="3646221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__HAL_RCC_GPIOE_CLK_ENABLE();</a:t>
              </a:r>
            </a:p>
          </p:txBody>
        </p:sp>
      </p:grpSp>
      <p:grpSp>
        <p:nvGrpSpPr>
          <p:cNvPr id="17" name="led-timing"/>
          <p:cNvGrpSpPr/>
          <p:nvPr/>
        </p:nvGrpSpPr>
        <p:grpSpPr>
          <a:xfrm>
            <a:off x="7371715" y="1450975"/>
            <a:ext cx="3183479" cy="2716784"/>
            <a:chOff x="7371715" y="1450975"/>
            <a:chExt cx="3183479" cy="2716784"/>
          </a:xfrm>
        </p:grpSpPr>
        <p:sp>
          <p:nvSpPr>
            <p:cNvPr id="10" name="TextBox 10"/>
            <p:cNvSpPr txBox="1"/>
            <p:nvPr/>
          </p:nvSpPr>
          <p:spPr>
            <a:xfrm>
              <a:off x="7371715" y="1450975"/>
              <a:ext cx="2200593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STD · Delay(10)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72731" y="1863090"/>
              <a:ext cx="15327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每轮约100 ms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72731" y="2205990"/>
              <a:ext cx="28776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每5轮翻转：间隔约500 ms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72731" y="2548890"/>
              <a:ext cx="22960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完整亮灭周期：约1 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71715" y="3060700"/>
              <a:ext cx="3183479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HAL · HAL_Delay(1000)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72731" y="3472815"/>
              <a:ext cx="22960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每轮、翻转间隔约1 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72731" y="3815715"/>
              <a:ext cx="22960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完整亮灭周期：约2 s</a:t>
              </a:r>
            </a:p>
          </p:txBody>
        </p:sp>
      </p:grpSp>
      <p:grpSp>
        <p:nvGrpSpPr>
          <p:cNvPr id="27" name="index-rollover"/>
          <p:cNvGrpSpPr/>
          <p:nvPr/>
        </p:nvGrpSpPr>
        <p:grpSpPr>
          <a:xfrm>
            <a:off x="7371715" y="4603750"/>
            <a:ext cx="4210685" cy="2011934"/>
            <a:chOff x="7371715" y="4603750"/>
            <a:chExt cx="4210685" cy="2011934"/>
          </a:xfrm>
        </p:grpSpPr>
        <p:sp>
          <p:nvSpPr>
            <p:cNvPr id="18" name="TextBox 18"/>
            <p:cNvSpPr txBox="1"/>
            <p:nvPr/>
          </p:nvSpPr>
          <p:spPr>
            <a:xfrm>
              <a:off x="7371715" y="4603750"/>
              <a:ext cx="1359327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Index 回卷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73747" y="5018405"/>
              <a:ext cx="3164291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uint16_t; Index%5==0 时翻转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81875" y="5400675"/>
              <a:ext cx="1409700" cy="476250"/>
            </a:xfrm>
            <a:prstGeom prst="roundRect">
              <a:avLst>
                <a:gd name="adj" fmla="val 12000"/>
              </a:avLst>
            </a:prstGeom>
            <a:solidFill>
              <a:srgbClr val="F3E2D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68324" y="5506085"/>
              <a:ext cx="836803" cy="430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00" dirty="0">
                  <a:solidFill>
                    <a:srgbClr val="D66A35"/>
                  </a:solidFill>
                  <a:latin typeface="Consolas"/>
                  <a:ea typeface="Microsoft YaHei"/>
                  <a:cs typeface="Consolas"/>
                </a:rPr>
                <a:t>65535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172700" y="5400675"/>
              <a:ext cx="1409700" cy="476250"/>
            </a:xfrm>
            <a:prstGeom prst="roundRect">
              <a:avLst>
                <a:gd name="adj" fmla="val 12000"/>
              </a:avLst>
            </a:prstGeom>
            <a:solidFill>
              <a:srgbClr val="F3E2D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784929" y="5506085"/>
              <a:ext cx="185242" cy="430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00" dirty="0">
                  <a:solidFill>
                    <a:srgbClr val="D66A35"/>
                  </a:solidFill>
                  <a:latin typeface="Consolas"/>
                  <a:ea typeface="Microsoft YaHei"/>
                  <a:cs typeface="Consolas"/>
                </a:rPr>
                <a:t>0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953500" y="5638800"/>
              <a:ext cx="1047750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72731" y="5996940"/>
              <a:ext cx="19447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两者均满足%5==0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72731" y="6263640"/>
              <a:ext cx="3228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连续两轮翻转，间隔约100 ms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制作源文件">
  <a:themeElements>
    <a:clrScheme name="制作源文件">
      <a:dk1>
        <a:srgbClr val="1D3440"/>
      </a:dk1>
      <a:lt1>
        <a:srgbClr val="F5F6F2"/>
      </a:lt1>
      <a:dk2>
        <a:srgbClr val="1F497D"/>
      </a:dk2>
      <a:lt2>
        <a:srgbClr val="E8EEEB"/>
      </a:lt2>
      <a:accent1>
        <a:srgbClr val="132E3B"/>
      </a:accent1>
      <a:accent2>
        <a:srgbClr val="167D8D"/>
      </a:accent2>
      <a:accent3>
        <a:srgbClr val="D66A35"/>
      </a:accent3>
      <a:accent4>
        <a:srgbClr val="132E3B"/>
      </a:accent4>
      <a:accent5>
        <a:srgbClr val="61747B"/>
      </a:accent5>
      <a:accent6>
        <a:srgbClr val="C9D5D2"/>
      </a:accent6>
      <a:hlink>
        <a:srgbClr val="167D8D"/>
      </a:hlink>
      <a:folHlink>
        <a:srgbClr val="D66A35"/>
      </a:folHlink>
    </a:clrScheme>
    <a:fontScheme name="制作源文件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制作源文件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制作源文件">
  <a:themeElements>
    <a:clrScheme name="制作源文件">
      <a:dk1>
        <a:srgbClr val="1D3440"/>
      </a:dk1>
      <a:lt1>
        <a:srgbClr val="F5F6F2"/>
      </a:lt1>
      <a:dk2>
        <a:srgbClr val="1F497D"/>
      </a:dk2>
      <a:lt2>
        <a:srgbClr val="E8EEEB"/>
      </a:lt2>
      <a:accent1>
        <a:srgbClr val="132E3B"/>
      </a:accent1>
      <a:accent2>
        <a:srgbClr val="167D8D"/>
      </a:accent2>
      <a:accent3>
        <a:srgbClr val="D66A35"/>
      </a:accent3>
      <a:accent4>
        <a:srgbClr val="132E3B"/>
      </a:accent4>
      <a:accent5>
        <a:srgbClr val="61747B"/>
      </a:accent5>
      <a:accent6>
        <a:srgbClr val="C9D5D2"/>
      </a:accent6>
      <a:hlink>
        <a:srgbClr val="167D8D"/>
      </a:hlink>
      <a:folHlink>
        <a:srgbClr val="D66A35"/>
      </a:folHlink>
    </a:clrScheme>
    <a:fontScheme name="制作源文件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制作源文件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2282</Words>
  <Application>Microsoft Office PowerPoint</Application>
  <PresentationFormat>宽屏</PresentationFormat>
  <Paragraphs>156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Microsoft YaHei</vt:lpstr>
      <vt:lpstr>Arial</vt:lpstr>
      <vt:lpstr>Consolas</vt:lpstr>
      <vt:lpstr>制作源文件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彭俊杰</cp:lastModifiedBy>
  <cp:revision>2</cp:revision>
  <dcterms:created xsi:type="dcterms:W3CDTF">2026-10-07T10:33:09Z</dcterms:created>
  <dcterms:modified xsi:type="dcterms:W3CDTF">2026-10-07T15:57:19Z</dcterms:modified>
  <cp:category/>
  <cp:contentStatus/>
  <dc:language>zh-CN</dc:language>
</cp:coreProperties>
</file>